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9"/>
  </p:notesMasterIdLst>
  <p:sldIdLst>
    <p:sldId id="256" r:id="rId5"/>
    <p:sldId id="257" r:id="rId6"/>
    <p:sldId id="258" r:id="rId7"/>
    <p:sldId id="259" r:id="rId8"/>
    <p:sldId id="260" r:id="rId9"/>
    <p:sldId id="261" r:id="rId10"/>
    <p:sldId id="262" r:id="rId11"/>
    <p:sldId id="263" r:id="rId12"/>
    <p:sldId id="272" r:id="rId32"/>
    <p:sldId id="271" r:id="rId31"/>
    <p:sldId id="270" r:id="rId30"/>
    <p:sldId id="264" r:id="rId13"/>
    <p:sldId id="265" r:id="rId14"/>
    <p:sldId id="266" r:id="rId15"/>
    <p:sldId id="267" r:id="rId16"/>
    <p:sldId id="268" r:id="rId17"/>
    <p:sldId id="269" r:id="rId18"/>
  </p:sldIdLst>
  <p:sldSz cx="12192000" cy="6858000"/>
  <p:notesSz cx="6858000" cy="9144000"/>
  <p:embeddedFontLst>
    <p:embeddedFont>
      <p:font typeface="Century Gothic" panose="020B0502020202020204" pitchFamily="34" charset="0"/>
      <p:regular r:id="rId20"/>
      <p:bold r:id="rId21"/>
      <p:italic r:id="rId22"/>
      <p:boldItalic r:id="rId23"/>
    </p:embeddedFont>
  </p:embeddedFontLst>
  <p:custDataLst>
    <p:tags r:id="rId24"/>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5"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8" d="100"/>
          <a:sy n="68" d="100"/>
        </p:scale>
        <p:origin x="132" y="6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notesMaster" Target="notesMasters/notesMaster1.xml"/><Relationship Id="rId20" Type="http://schemas.openxmlformats.org/officeDocument/2006/relationships/font" Target="fonts/font1.fntdata"/><Relationship Id="rId21" Type="http://schemas.openxmlformats.org/officeDocument/2006/relationships/font" Target="fonts/font2.fntdata"/><Relationship Id="rId22" Type="http://schemas.openxmlformats.org/officeDocument/2006/relationships/font" Target="fonts/font3.fntdata"/><Relationship Id="rId23" Type="http://schemas.openxmlformats.org/officeDocument/2006/relationships/font" Target="fonts/font4.fntdata"/><Relationship Id="rId24" Type="http://schemas.openxmlformats.org/officeDocument/2006/relationships/tags" Target="tags/tag1.xml"/><Relationship Id="rId25" Type="http://customschemas.google.com/relationships/presentationmetadata" Target="metadata"/><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2.xml"/><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Layout" Target="../slideLayouts/slideLayout2.xml"/><Relationship Id="rId3" Type="http://schemas.openxmlformats.org/officeDocument/2006/relationships/notesSlide" Target="../notesSlides/notesSlide2.xml"/><Relationship Id="rId4" Type="http://schemas.openxmlformats.org/officeDocument/2006/relationships/image" Target="../media/image4.png"/><Relationship Id="rId5"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Layout" Target="../slideLayouts/slideLayout2.xml"/><Relationship Id="rId3" Type="http://schemas.openxmlformats.org/officeDocument/2006/relationships/notesSlide" Target="../notesSlides/notesSlide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Layout" Target="../slideLayouts/slideLayout2.xml"/><Relationship Id="rId3" Type="http://schemas.openxmlformats.org/officeDocument/2006/relationships/notesSlide" Target="../notesSlides/notesSlide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Layout" Target="../slideLayouts/slideLayout2.xml"/><Relationship Id="rId3" Type="http://schemas.openxmlformats.org/officeDocument/2006/relationships/notesSlide" Target="../notesSlides/notesSlide5.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Layout" Target="../slideLayouts/slideLayout2.xml"/><Relationship Id="rId3" Type="http://schemas.openxmlformats.org/officeDocument/2006/relationships/notesSlide" Target="../notesSlides/notesSlide6.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Layout" Target="../slideLayouts/slideLayout2.xml"/><Relationship Id="rId3" Type="http://schemas.openxmlformats.org/officeDocument/2006/relationships/notesSlide" Target="../notesSlides/notesSlide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Layout" Target="../slideLayouts/slideLayout2.xml"/><Relationship Id="rId3" Type="http://schemas.openxmlformats.org/officeDocument/2006/relationships/notesSlide" Target="../notesSlides/notesSlide8.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Layout" Target="../slideLayouts/slideLayout2.xml"/><Relationship Id="rId3" Type="http://schemas.openxmlformats.org/officeDocument/2006/relationships/notesSlide" Target="../notesSlides/notesSlide9.xml"/><Relationship Id="rId4" Type="http://schemas.openxmlformats.org/officeDocument/2006/relationships/image" Target="../media/image5.png"/><Relationship Id="rId5"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Layout" Target="../slideLayouts/slideLayout2.xml"/><Relationship Id="rId3" Type="http://schemas.openxmlformats.org/officeDocument/2006/relationships/notesSlide" Target="../notesSlides/notesSlide10.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Layout" Target="../slideLayouts/slideLayout2.xml"/><Relationship Id="rId3" Type="http://schemas.openxmlformats.org/officeDocument/2006/relationships/notesSlide" Target="../notesSlides/notesSlide11.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tags" Target="../tags/tag13.xml"/><Relationship Id="rId2" Type="http://schemas.openxmlformats.org/officeDocument/2006/relationships/slideLayout" Target="../slideLayouts/slideLayout2.xml"/><Relationship Id="rId3" Type="http://schemas.openxmlformats.org/officeDocument/2006/relationships/notesSlide" Target="../notesSlides/notesSlide1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tags" Target="../tags/tag14.xml"/><Relationship Id="rId2" Type="http://schemas.openxmlformats.org/officeDocument/2006/relationships/slideLayout" Target="../slideLayouts/slideLayout2.xml"/><Relationship Id="rId3" Type="http://schemas.openxmlformats.org/officeDocument/2006/relationships/notesSlide" Target="../notesSlides/notesSlide13.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tags" Target="../tags/tag15.xml"/><Relationship Id="rId2" Type="http://schemas.openxmlformats.org/officeDocument/2006/relationships/slideLayout" Target="../slideLayouts/slideLayout2.xml"/><Relationship Id="rId3" Type="http://schemas.openxmlformats.org/officeDocument/2006/relationships/notesSlide" Target="../notesSlides/notesSlide14.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algn="ctr"/>
            <a:r>
              <a:rPr sz="3400" b="1">
                <a:solidFill>
                  <a:srgbClr val="5E8849"/>
                </a:solidFill>
                <a:latin typeface="Arial"/>
              </a:rPr>
              <a:t>Green Pace</a:t>
            </a:r>
          </a:p>
        </p:txBody>
      </p:sp>
      <p:sp>
        <p:nvSpPr>
          <p:cNvPr id="145" name="Google Shape;145;p1"/>
          <p:cNvSpPr txBox="1">
            <a:spLocks noGrp="1"/>
          </p:cNvSpPr>
          <p:nvPr>
            <p:ph type="subTitle" idx="1"/>
          </p:nvPr>
        </p:nvSpPr>
        <p:spPr>
          <a:xfrm>
            <a:off x="1371600" y="3632200"/>
            <a:ext cx="9448800" cy="1561592"/>
          </a:xfrm>
          <a:prstGeom prst="rect">
            <a:avLst/>
          </a:prstGeom>
          <a:noFill/>
          <a:ln>
            <a:noFill/>
          </a:ln>
        </p:spPr>
        <p:txBody>
          <a:bodyPr spcFirstLastPara="1" wrap="square" lIns="91425" tIns="45700" rIns="91425" bIns="45700" anchor="t" anchorCtr="0">
            <a:normAutofit/>
          </a:bodyPr>
          <a:lstStyle/>
          <a:p>
            <a:pPr algn="ctr"/>
            <a:r>
              <a:rPr sz="2000" b="0">
                <a:solidFill>
                  <a:srgbClr val="000000"/>
                </a:solidFill>
                <a:latin typeface="Arial"/>
              </a:rPr>
              <a:t>Security Policy Presentation</a:t>
            </a:r>
          </a:p>
          <a:p>
            <a:pPr algn="ctr"/>
            <a:r>
              <a:rPr sz="2000" b="0">
                <a:solidFill>
                  <a:srgbClr val="000000"/>
                </a:solidFill>
                <a:latin typeface="Arial"/>
              </a:rPr>
              <a:t>Developer: Reginald Kargbo</a:t>
            </a:r>
          </a:p>
          <a:p>
            <a:pPr algn="ctr"/>
            <a:r>
              <a:rPr sz="2000" b="0">
                <a:solidFill>
                  <a:srgbClr val="000000"/>
                </a:solidFill>
                <a:latin typeface="Arial"/>
              </a:rPr>
              <a:t>Project Two: Green Pace</a:t>
            </a:r>
          </a:p>
        </p:txBody>
      </p:sp>
      <p:pic>
        <p:nvPicPr>
          <p:cNvPr id="146" name="Google Shape;146;p1" descr="Green Pace logo"/>
          <p:cNvPicPr preferRelativeResize="0"/>
          <p:nvPr/>
        </p:nvPicPr>
        <p:blipFill>
          <a:blip r:embed="rId4">
            <a:alphaModFix/>
          </a:blip>
          <a:stretch>
            <a:fillRect/>
          </a:stretch>
        </p:blipFill>
        <p:spPr>
          <a:xfrm>
            <a:off x="7440774" y="659854"/>
            <a:ext cx="2921424" cy="3786772"/>
          </a:xfrm>
          <a:prstGeom prst="rect">
            <a:avLst/>
          </a:prstGeom>
          <a:noFill/>
          <a:ln>
            <a:noFill/>
          </a:ln>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OVERVIEW: DEFENSE IN DEPTH</a:t>
            </a:r>
          </a:p>
        </p:txBody>
      </p:sp>
      <p:sp>
        <p:nvSpPr>
          <p:cNvPr id="152" name="Google Shape;152;p3"/>
          <p:cNvSpPr txBox="1">
            <a:spLocks noGrp="1"/>
          </p:cNvSpPr>
          <p:nvPr>
            <p:ph type="body" idx="1"/>
          </p:nvPr>
        </p:nvSpPr>
        <p:spPr>
          <a:xfrm>
            <a:off x="594360" y="1965960"/>
            <a:ext cx="2468880" cy="4023360"/>
          </a:xfrm>
          <a:prstGeom prst="rect">
            <a:avLst/>
          </a:prstGeom>
          <a:noFill/>
          <a:ln>
            <a:noFill/>
          </a:ln>
        </p:spPr>
        <p:txBody>
          <a:bodyPr spcFirstLastPara="1" wrap="square" lIns="91425" tIns="45700" rIns="91425" bIns="45700" anchor="t" anchorCtr="0">
            <a:normAutofit/>
          </a:bodyPr>
          <a:lstStyle/>
          <a:p>
            <a:pPr algn="l"/>
            <a:r>
              <a:rPr sz="1100" b="0">
                <a:solidFill>
                  <a:srgbClr val="FFFFFF"/>
                </a:solidFill>
                <a:latin typeface="Arial"/>
              </a:rPr>
              <a:t>Green Pace needs one repeatable security policy for custom software.</a:t>
            </a:r>
          </a:p>
          <a:p>
            <a:pPr algn="l"/>
            <a:r>
              <a:rPr sz="1100" b="0">
                <a:solidFill>
                  <a:srgbClr val="FFFFFF"/>
                </a:solidFill>
                <a:latin typeface="Arial"/>
              </a:rPr>
              <a:t/>
            </a:r>
          </a:p>
          <a:p>
            <a:pPr algn="l"/>
            <a:r>
              <a:rPr sz="1100" b="0">
                <a:solidFill>
                  <a:srgbClr val="FFFFFF"/>
                </a:solidFill>
                <a:latin typeface="Arial"/>
              </a:rPr>
              <a:t>Defense in depth uses several layers together: secure design, validated input, compiler warnings, coding standards, unit testing, static analysis, encryption, access control, logging, and monitoring.</a:t>
            </a:r>
          </a:p>
          <a:p>
            <a:pPr algn="l"/>
            <a:r>
              <a:rPr sz="1100" b="0">
                <a:solidFill>
                  <a:srgbClr val="FFFFFF"/>
                </a:solidFill>
                <a:latin typeface="Arial"/>
              </a:rPr>
              <a:t/>
            </a:r>
          </a:p>
          <a:p>
            <a:pPr algn="l"/>
            <a:r>
              <a:rPr sz="1100" b="0">
                <a:solidFill>
                  <a:srgbClr val="FFFFFF"/>
                </a:solidFill>
                <a:latin typeface="Arial"/>
              </a:rPr>
              <a:t>The policy supports prevention, detection, response, and audit evidence.</a:t>
            </a:r>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4">
            <a:alphaModFix/>
          </a:blip>
          <a:srcRect/>
          <a:stretch/>
        </p:blipFill>
        <p:spPr>
          <a:xfrm>
            <a:off x="3160643" y="2839411"/>
            <a:ext cx="6453257" cy="3797196"/>
          </a:xfrm>
          <a:prstGeom prst="rect">
            <a:avLst/>
          </a:prstGeom>
          <a:noFill/>
          <a:ln>
            <a:noFill/>
          </a:ln>
        </p:spPr>
      </p:pic>
      <p:pic>
        <p:nvPicPr>
          <p:cNvPr id="154" name="Google Shape;154;p3"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THREATS MATRIX</a:t>
            </a: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a:bodyPr>
          <a:lstStyle/>
          <a:p/>
        </p:txBody>
      </p:sp>
      <p:graphicFrame>
        <p:nvGraphicFramePr>
          <p:cNvPr id="161" name="Google Shape;161;p4" descr="Alt text required"/>
          <p:cNvGraphicFramePr/>
          <p:nvPr>
            <p:extLst>
              <p:ext uri="{D42A27DB-BD31-4B8C-83A1-F6EECF244321}">
                <p14:modId xmlns:p14="http://schemas.microsoft.com/office/powerpoint/2010/main" val="4404453"/>
              </p:ext>
            </p:extLst>
          </p:nvPr>
        </p:nvGraphicFramePr>
        <p:xfrm>
          <a:off x="18288000" y="2561050"/>
          <a:ext cx="7835225" cy="3538650"/>
        </p:xfrm>
        <a:graphic>
          <a:graphicData uri="http://schemas.openxmlformats.org/drawingml/2006/table">
            <a:tbl>
              <a:tblPr firstRow="1" firstCol="1">
                <a:noFill/>
                <a:tableStyleId>{802198C4-3087-4945-87E3-76CBB3509B7E}</a:tableStyleId>
              </a:tblPr>
              <a:tblGrid>
                <a:gridCol w="4030425">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[Insert text here.]</a:t>
                      </a:r>
                      <a:endParaRPr sz="3600" u="none" strike="noStrike" cap="none" dirty="0">
                        <a:solidFill>
                          <a:srgbClr val="FFD966"/>
                        </a:solidFill>
                      </a:endParaRPr>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[Insert text here.]</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Low priority</a:t>
                      </a:r>
                      <a:endParaRPr sz="1400" u="none" strike="noStrike" cap="none"/>
                    </a:p>
                    <a:p>
                      <a:pPr marL="0" marR="0" lvl="0" indent="0" algn="ctr" rtl="0">
                        <a:lnSpc>
                          <a:spcPct val="100000"/>
                        </a:lnSpc>
                        <a:spcBef>
                          <a:spcPts val="0"/>
                        </a:spcBef>
                        <a:spcAft>
                          <a:spcPts val="0"/>
                        </a:spcAft>
                        <a:buClr>
                          <a:srgbClr val="000000"/>
                        </a:buClr>
                        <a:buSzPts val="3600"/>
                        <a:buFont typeface="Arial"/>
                        <a:buNone/>
                      </a:pPr>
                      <a:r>
                        <a:rPr lang="en-US" sz="3600" u="none" strike="noStrike" cap="none">
                          <a:solidFill>
                            <a:srgbClr val="FFD966"/>
                          </a:solidFill>
                        </a:rPr>
                        <a:t>[Insert text here.]</a:t>
                      </a:r>
                      <a:endParaRPr sz="1400" u="none" strike="noStrike" cap="none"/>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[Insert text here.]</a:t>
                      </a:r>
                      <a:endParaRPr sz="1400" u="none" strike="noStrike" cap="none"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
        <p:nvSpPr>
          <p:cNvPr id="163" name="TextBox 162"/>
          <p:cNvSpPr txBox="1"/>
          <p:nvPr/>
        </p:nvSpPr>
        <p:spPr>
          <a:xfrm>
            <a:off x="685800" y="2057400"/>
            <a:ext cx="2468880" cy="3291840"/>
          </a:xfrm>
          <a:prstGeom prst="rect">
            <a:avLst/>
          </a:prstGeom>
          <a:noFill/>
        </p:spPr>
        <p:txBody>
          <a:bodyPr wrap="square">
            <a:normAutofit/>
          </a:bodyPr>
          <a:lstStyle/>
          <a:p>
            <a:pPr/>
            <a:r>
              <a:rPr sz="1150">
                <a:solidFill>
                  <a:srgbClr val="FFFFFF"/>
                </a:solidFill>
                <a:latin typeface="Arial"/>
              </a:rPr>
              <a:t>Prioritization uses severity, likelihood, remediation cost, and impact.</a:t>
            </a:r>
          </a:p>
          <a:p>
            <a:pPr/>
            <a:r>
              <a:rPr sz="1150">
                <a:solidFill>
                  <a:srgbClr val="FFFFFF"/>
                </a:solidFill>
                <a:latin typeface="Arial"/>
              </a:rPr>
              <a:t>Highest focus: issues that could expose data, corrupt memory, bypass access control, or weaken audit evidence.</a:t>
            </a:r>
          </a:p>
          <a:p>
            <a:pPr/>
            <a:r>
              <a:rPr sz="1150">
                <a:solidFill>
                  <a:srgbClr val="FFFFFF"/>
                </a:solidFill>
                <a:latin typeface="Arial"/>
              </a:rPr>
              <a:t>Low-cost, high-impact fixes should be corrected immediately.</a:t>
            </a:r>
          </a:p>
        </p:txBody>
      </p:sp>
      <p:graphicFrame>
        <p:nvGraphicFramePr>
          <p:cNvPr id="164" name="Table 163"/>
          <p:cNvGraphicFramePr>
            <a:graphicFrameLocks noGrp="1"/>
          </p:cNvGraphicFramePr>
          <p:nvPr/>
        </p:nvGraphicFramePr>
        <p:xfrm>
          <a:off x="3246120" y="1965960"/>
          <a:ext cx="7315200" cy="3108960"/>
        </p:xfrm>
        <a:graphic>
          <a:graphicData uri="http://schemas.openxmlformats.org/drawingml/2006/table">
            <a:tbl>
              <a:tblPr firstRow="1" bandRow="1">
                <a:tableStyleId>{5C22544A-7EE6-4342-B048-85BDC9FD1C3A}</a:tableStyleId>
              </a:tblPr>
              <a:tblGrid>
                <a:gridCol w="2438400"/>
                <a:gridCol w="2438400"/>
                <a:gridCol w="2438400"/>
              </a:tblGrid>
              <a:tr h="621792">
                <a:tc>
                  <a:txBody>
                    <a:bodyPr/>
                    <a:lstStyle/>
                    <a:p>
                      <a:pPr algn="ctr"/>
                      <a:r>
                        <a:rPr sz="819" b="1">
                          <a:solidFill>
                            <a:srgbClr val="000000"/>
                          </a:solidFill>
                          <a:latin typeface="Arial"/>
                        </a:rPr>
                        <a:t>Category</a:t>
                      </a:r>
                    </a:p>
                  </a:txBody>
                  <a:tcPr marL="36576" marR="36576" marT="18288" marB="18288">
                    <a:solidFill>
                      <a:srgbClr val="EBEBEB"/>
                    </a:solidFill>
                  </a:tcPr>
                </a:tc>
                <a:tc>
                  <a:txBody>
                    <a:bodyPr/>
                    <a:lstStyle/>
                    <a:p>
                      <a:pPr algn="ctr"/>
                      <a:r>
                        <a:rPr sz="819" b="1">
                          <a:solidFill>
                            <a:srgbClr val="000000"/>
                          </a:solidFill>
                          <a:latin typeface="Arial"/>
                        </a:rPr>
                        <a:t>Likely</a:t>
                      </a:r>
                    </a:p>
                  </a:txBody>
                  <a:tcPr marL="36576" marR="36576" marT="18288" marB="18288">
                    <a:solidFill>
                      <a:srgbClr val="EBEBEB"/>
                    </a:solidFill>
                  </a:tcPr>
                </a:tc>
                <a:tc>
                  <a:txBody>
                    <a:bodyPr/>
                    <a:lstStyle/>
                    <a:p>
                      <a:pPr algn="ctr"/>
                      <a:r>
                        <a:rPr sz="819" b="1">
                          <a:solidFill>
                            <a:srgbClr val="000000"/>
                          </a:solidFill>
                          <a:latin typeface="Arial"/>
                        </a:rPr>
                        <a:t>Unlikely</a:t>
                      </a:r>
                    </a:p>
                  </a:txBody>
                  <a:tcPr marL="36576" marR="36576" marT="18288" marB="18288">
                    <a:solidFill>
                      <a:srgbClr val="EBEBEB"/>
                    </a:solidFill>
                  </a:tcPr>
                </a:tc>
              </a:tr>
              <a:tr h="621792">
                <a:tc>
                  <a:txBody>
                    <a:bodyPr/>
                    <a:lstStyle/>
                    <a:p>
                      <a:pPr algn="l"/>
                      <a:r>
                        <a:rPr sz="819" b="0">
                          <a:solidFill>
                            <a:srgbClr val="000000"/>
                          </a:solidFill>
                          <a:latin typeface="Arial"/>
                        </a:rPr>
                        <a:t>High impact</a:t>
                      </a:r>
                    </a:p>
                  </a:txBody>
                  <a:tcPr marL="36576" marR="36576" marT="18288" marB="18288">
                    <a:solidFill>
                      <a:srgbClr val="FFFFFF"/>
                    </a:solidFill>
                  </a:tcPr>
                </a:tc>
                <a:tc>
                  <a:txBody>
                    <a:bodyPr/>
                    <a:lstStyle/>
                    <a:p>
                      <a:pPr algn="l"/>
                      <a:r>
                        <a:rPr sz="819" b="0">
                          <a:solidFill>
                            <a:srgbClr val="000000"/>
                          </a:solidFill>
                          <a:latin typeface="Arial"/>
                        </a:rPr>
                        <a:t>Data type, data value, SQL injection, memory protection</a:t>
                      </a:r>
                    </a:p>
                  </a:txBody>
                  <a:tcPr marL="36576" marR="36576" marT="18288" marB="18288">
                    <a:solidFill>
                      <a:srgbClr val="FFFFFF"/>
                    </a:solidFill>
                  </a:tcPr>
                </a:tc>
                <a:tc>
                  <a:txBody>
                    <a:bodyPr/>
                    <a:lstStyle/>
                    <a:p>
                      <a:pPr algn="l"/>
                      <a:r>
                        <a:rPr sz="819" b="0">
                          <a:solidFill>
                            <a:srgbClr val="000000"/>
                          </a:solidFill>
                          <a:latin typeface="Arial"/>
                        </a:rPr>
                        <a:t>Assertions, exceptions, encryption gaps</a:t>
                      </a:r>
                    </a:p>
                  </a:txBody>
                  <a:tcPr marL="36576" marR="36576" marT="18288" marB="18288">
                    <a:solidFill>
                      <a:srgbClr val="FFFFFF"/>
                    </a:solidFill>
                  </a:tcPr>
                </a:tc>
              </a:tr>
              <a:tr h="621792">
                <a:tc>
                  <a:txBody>
                    <a:bodyPr/>
                    <a:lstStyle/>
                    <a:p>
                      <a:pPr algn="l"/>
                      <a:r>
                        <a:rPr sz="819" b="0">
                          <a:solidFill>
                            <a:srgbClr val="000000"/>
                          </a:solidFill>
                          <a:latin typeface="Arial"/>
                        </a:rPr>
                        <a:t>Medium impact</a:t>
                      </a:r>
                    </a:p>
                  </a:txBody>
                  <a:tcPr marL="36576" marR="36576" marT="18288" marB="18288">
                    <a:solidFill>
                      <a:srgbClr val="FFFFFF"/>
                    </a:solidFill>
                  </a:tcPr>
                </a:tc>
                <a:tc>
                  <a:txBody>
                    <a:bodyPr/>
                    <a:lstStyle/>
                    <a:p>
                      <a:pPr algn="l"/>
                      <a:r>
                        <a:rPr sz="819" b="0">
                          <a:solidFill>
                            <a:srgbClr val="000000"/>
                          </a:solidFill>
                          <a:latin typeface="Arial"/>
                        </a:rPr>
                        <a:t>String handling, authentication/authorization mistakes</a:t>
                      </a:r>
                    </a:p>
                  </a:txBody>
                  <a:tcPr marL="36576" marR="36576" marT="18288" marB="18288">
                    <a:solidFill>
                      <a:srgbClr val="FFFFFF"/>
                    </a:solidFill>
                  </a:tcPr>
                </a:tc>
                <a:tc>
                  <a:txBody>
                    <a:bodyPr/>
                    <a:lstStyle/>
                    <a:p>
                      <a:pPr algn="l"/>
                      <a:r>
                        <a:rPr sz="819" b="0">
                          <a:solidFill>
                            <a:srgbClr val="000000"/>
                          </a:solidFill>
                          <a:latin typeface="Arial"/>
                        </a:rPr>
                        <a:t>Audit/accounting control gaps</a:t>
                      </a:r>
                    </a:p>
                  </a:txBody>
                  <a:tcPr marL="36576" marR="36576" marT="18288" marB="18288">
                    <a:solidFill>
                      <a:srgbClr val="FFFFFF"/>
                    </a:solidFill>
                  </a:tcPr>
                </a:tc>
              </a:tr>
              <a:tr h="621792">
                <a:tc>
                  <a:txBody>
                    <a:bodyPr/>
                    <a:lstStyle/>
                    <a:p>
                      <a:pPr algn="l"/>
                      <a:r>
                        <a:rPr sz="819" b="0">
                          <a:solidFill>
                            <a:srgbClr val="000000"/>
                          </a:solidFill>
                          <a:latin typeface="Arial"/>
                        </a:rPr>
                        <a:t>Low impact</a:t>
                      </a:r>
                    </a:p>
                  </a:txBody>
                  <a:tcPr marL="36576" marR="36576" marT="18288" marB="18288">
                    <a:solidFill>
                      <a:srgbClr val="FFFFFF"/>
                    </a:solidFill>
                  </a:tcPr>
                </a:tc>
                <a:tc>
                  <a:txBody>
                    <a:bodyPr/>
                    <a:lstStyle/>
                    <a:p>
                      <a:pPr algn="l"/>
                      <a:r>
                        <a:rPr sz="819" b="0">
                          <a:solidFill>
                            <a:srgbClr val="000000"/>
                          </a:solidFill>
                          <a:latin typeface="Arial"/>
                        </a:rPr>
                        <a:t>Maintainability, style, documentation findings</a:t>
                      </a:r>
                    </a:p>
                  </a:txBody>
                  <a:tcPr marL="36576" marR="36576" marT="18288" marB="18288">
                    <a:solidFill>
                      <a:srgbClr val="FFFFFF"/>
                    </a:solidFill>
                  </a:tcPr>
                </a:tc>
                <a:tc>
                  <a:txBody>
                    <a:bodyPr/>
                    <a:lstStyle/>
                    <a:p>
                      <a:pPr algn="l"/>
                      <a:r>
                        <a:rPr sz="819" b="0">
                          <a:solidFill>
                            <a:srgbClr val="000000"/>
                          </a:solidFill>
                          <a:latin typeface="Arial"/>
                        </a:rPr>
                        <a:t>Rare configuration gaps</a:t>
                      </a:r>
                    </a:p>
                  </a:txBody>
                  <a:tcPr marL="36576" marR="36576" marT="18288" marB="18288">
                    <a:solidFill>
                      <a:srgbClr val="FFFFFF"/>
                    </a:solidFill>
                  </a:tcPr>
                </a:tc>
              </a:tr>
              <a:tr h="621792">
                <a:tc>
                  <a:txBody>
                    <a:bodyPr/>
                    <a:lstStyle/>
                    <a:p>
                      <a:pPr algn="l"/>
                      <a:r>
                        <a:rPr sz="819" b="0">
                          <a:solidFill>
                            <a:srgbClr val="000000"/>
                          </a:solidFill>
                          <a:latin typeface="Arial"/>
                        </a:rPr>
                        <a:t>Action</a:t>
                      </a:r>
                    </a:p>
                  </a:txBody>
                  <a:tcPr marL="36576" marR="36576" marT="18288" marB="18288">
                    <a:solidFill>
                      <a:srgbClr val="FFFFFF"/>
                    </a:solidFill>
                  </a:tcPr>
                </a:tc>
                <a:tc>
                  <a:txBody>
                    <a:bodyPr/>
                    <a:lstStyle/>
                    <a:p>
                      <a:pPr algn="l"/>
                      <a:r>
                        <a:rPr sz="819" b="0">
                          <a:solidFill>
                            <a:srgbClr val="000000"/>
                          </a:solidFill>
                          <a:latin typeface="Arial"/>
                        </a:rPr>
                        <a:t>Fix before release; automate detection</a:t>
                      </a:r>
                    </a:p>
                  </a:txBody>
                  <a:tcPr marL="36576" marR="36576" marT="18288" marB="18288">
                    <a:solidFill>
                      <a:srgbClr val="FFFFFF"/>
                    </a:solidFill>
                  </a:tcPr>
                </a:tc>
                <a:tc>
                  <a:txBody>
                    <a:bodyPr/>
                    <a:lstStyle/>
                    <a:p>
                      <a:pPr algn="l"/>
                      <a:r>
                        <a:rPr sz="819" b="0">
                          <a:solidFill>
                            <a:srgbClr val="000000"/>
                          </a:solidFill>
                          <a:latin typeface="Arial"/>
                        </a:rPr>
                        <a:t>Track, document, and schedule remediation</a:t>
                      </a:r>
                    </a:p>
                  </a:txBody>
                  <a:tcPr marL="36576" marR="36576" marT="18288" marB="18288">
                    <a:solidFill>
                      <a:srgbClr val="FFFFFF"/>
                    </a:solidFill>
                  </a:tcPr>
                </a:tc>
              </a:tr>
            </a:tbl>
          </a:graphicData>
        </a:graphic>
      </p:graphicFrame>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10 PRINCIPLES</a:t>
            </a: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p:txBody>
      </p:sp>
      <p:pic>
        <p:nvPicPr>
          <p:cNvPr id="169" name="Google Shape;169;p5"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170" name="Table 169"/>
          <p:cNvGraphicFramePr>
            <a:graphicFrameLocks noGrp="1"/>
          </p:cNvGraphicFramePr>
          <p:nvPr/>
        </p:nvGraphicFramePr>
        <p:xfrm>
          <a:off x="685800" y="1691640"/>
          <a:ext cx="10607040" cy="4389120"/>
        </p:xfrm>
        <a:graphic>
          <a:graphicData uri="http://schemas.openxmlformats.org/drawingml/2006/table">
            <a:tbl>
              <a:tblPr firstRow="1" bandRow="1">
                <a:tableStyleId>{5C22544A-7EE6-4342-B048-85BDC9FD1C3A}</a:tableStyleId>
              </a:tblPr>
              <a:tblGrid>
                <a:gridCol w="5303520"/>
                <a:gridCol w="5303520"/>
              </a:tblGrid>
              <a:tr h="399010">
                <a:tc>
                  <a:txBody>
                    <a:bodyPr/>
                    <a:lstStyle/>
                    <a:p>
                      <a:pPr algn="ctr"/>
                      <a:r>
                        <a:rPr sz="819" b="1">
                          <a:solidFill>
                            <a:srgbClr val="000000"/>
                          </a:solidFill>
                          <a:latin typeface="Arial"/>
                        </a:rPr>
                        <a:t>Principle</a:t>
                      </a:r>
                    </a:p>
                  </a:txBody>
                  <a:tcPr marL="36576" marR="36576" marT="18288" marB="18288">
                    <a:solidFill>
                      <a:srgbClr val="EBEBEB"/>
                    </a:solidFill>
                  </a:tcPr>
                </a:tc>
                <a:tc>
                  <a:txBody>
                    <a:bodyPr/>
                    <a:lstStyle/>
                    <a:p>
                      <a:pPr algn="ctr"/>
                      <a:r>
                        <a:rPr sz="819" b="1">
                          <a:solidFill>
                            <a:srgbClr val="000000"/>
                          </a:solidFill>
                          <a:latin typeface="Arial"/>
                        </a:rPr>
                        <a:t>Supported standards</a:t>
                      </a:r>
                    </a:p>
                  </a:txBody>
                  <a:tcPr marL="36576" marR="36576" marT="18288" marB="18288">
                    <a:solidFill>
                      <a:srgbClr val="EBEBEB"/>
                    </a:solidFill>
                  </a:tcPr>
                </a:tc>
              </a:tr>
              <a:tr h="399010">
                <a:tc>
                  <a:txBody>
                    <a:bodyPr/>
                    <a:lstStyle/>
                    <a:p>
                      <a:pPr algn="l"/>
                      <a:r>
                        <a:rPr sz="819" b="0">
                          <a:solidFill>
                            <a:srgbClr val="000000"/>
                          </a:solidFill>
                          <a:latin typeface="Arial"/>
                        </a:rPr>
                        <a:t>1 Validate input data</a:t>
                      </a:r>
                    </a:p>
                  </a:txBody>
                  <a:tcPr marL="36576" marR="36576" marT="18288" marB="18288">
                    <a:solidFill>
                      <a:srgbClr val="FFFFFF"/>
                    </a:solidFill>
                  </a:tcPr>
                </a:tc>
                <a:tc>
                  <a:txBody>
                    <a:bodyPr/>
                    <a:lstStyle/>
                    <a:p>
                      <a:pPr algn="l"/>
                      <a:r>
                        <a:rPr sz="819" b="0">
                          <a:solidFill>
                            <a:srgbClr val="000000"/>
                          </a:solidFill>
                          <a:latin typeface="Arial"/>
                        </a:rPr>
                        <a:t>Data value, strings, SQL injection, memory protection</a:t>
                      </a:r>
                    </a:p>
                  </a:txBody>
                  <a:tcPr marL="36576" marR="36576" marT="18288" marB="18288">
                    <a:solidFill>
                      <a:srgbClr val="FFFFFF"/>
                    </a:solidFill>
                  </a:tcPr>
                </a:tc>
              </a:tr>
              <a:tr h="399010">
                <a:tc>
                  <a:txBody>
                    <a:bodyPr/>
                    <a:lstStyle/>
                    <a:p>
                      <a:pPr algn="l"/>
                      <a:r>
                        <a:rPr sz="819" b="0">
                          <a:solidFill>
                            <a:srgbClr val="000000"/>
                          </a:solidFill>
                          <a:latin typeface="Arial"/>
                        </a:rPr>
                        <a:t>2 Heed compiler warnings</a:t>
                      </a:r>
                    </a:p>
                  </a:txBody>
                  <a:tcPr marL="36576" marR="36576" marT="18288" marB="18288">
                    <a:solidFill>
                      <a:srgbClr val="FFFFFF"/>
                    </a:solidFill>
                  </a:tcPr>
                </a:tc>
                <a:tc>
                  <a:txBody>
                    <a:bodyPr/>
                    <a:lstStyle/>
                    <a:p>
                      <a:pPr algn="l"/>
                      <a:r>
                        <a:rPr sz="819" b="0">
                          <a:solidFill>
                            <a:srgbClr val="000000"/>
                          </a:solidFill>
                          <a:latin typeface="Arial"/>
                        </a:rPr>
                        <a:t>Data type, conversions, assertions, exceptions</a:t>
                      </a:r>
                    </a:p>
                  </a:txBody>
                  <a:tcPr marL="36576" marR="36576" marT="18288" marB="18288">
                    <a:solidFill>
                      <a:srgbClr val="FFFFFF"/>
                    </a:solidFill>
                  </a:tcPr>
                </a:tc>
              </a:tr>
              <a:tr h="399010">
                <a:tc>
                  <a:txBody>
                    <a:bodyPr/>
                    <a:lstStyle/>
                    <a:p>
                      <a:pPr algn="l"/>
                      <a:r>
                        <a:rPr sz="819" b="0">
                          <a:solidFill>
                            <a:srgbClr val="000000"/>
                          </a:solidFill>
                          <a:latin typeface="Arial"/>
                        </a:rPr>
                        <a:t>3 Design for security</a:t>
                      </a:r>
                    </a:p>
                  </a:txBody>
                  <a:tcPr marL="36576" marR="36576" marT="18288" marB="18288">
                    <a:solidFill>
                      <a:srgbClr val="FFFFFF"/>
                    </a:solidFill>
                  </a:tcPr>
                </a:tc>
                <a:tc>
                  <a:txBody>
                    <a:bodyPr/>
                    <a:lstStyle/>
                    <a:p>
                      <a:pPr algn="l"/>
                      <a:r>
                        <a:rPr sz="819" b="0">
                          <a:solidFill>
                            <a:srgbClr val="000000"/>
                          </a:solidFill>
                          <a:latin typeface="Arial"/>
                        </a:rPr>
                        <a:t>Authentication, authorization, encryption, logging</a:t>
                      </a:r>
                    </a:p>
                  </a:txBody>
                  <a:tcPr marL="36576" marR="36576" marT="18288" marB="18288">
                    <a:solidFill>
                      <a:srgbClr val="FFFFFF"/>
                    </a:solidFill>
                  </a:tcPr>
                </a:tc>
              </a:tr>
              <a:tr h="399010">
                <a:tc>
                  <a:txBody>
                    <a:bodyPr/>
                    <a:lstStyle/>
                    <a:p>
                      <a:pPr algn="l"/>
                      <a:r>
                        <a:rPr sz="819" b="0">
                          <a:solidFill>
                            <a:srgbClr val="000000"/>
                          </a:solidFill>
                          <a:latin typeface="Arial"/>
                        </a:rPr>
                        <a:t>4 Keep it simple</a:t>
                      </a:r>
                    </a:p>
                  </a:txBody>
                  <a:tcPr marL="36576" marR="36576" marT="18288" marB="18288">
                    <a:solidFill>
                      <a:srgbClr val="FFFFFF"/>
                    </a:solidFill>
                  </a:tcPr>
                </a:tc>
                <a:tc>
                  <a:txBody>
                    <a:bodyPr/>
                    <a:lstStyle/>
                    <a:p>
                      <a:pPr algn="l"/>
                      <a:r>
                        <a:rPr sz="819" b="0">
                          <a:solidFill>
                            <a:srgbClr val="000000"/>
                          </a:solidFill>
                          <a:latin typeface="Arial"/>
                        </a:rPr>
                        <a:t>All coding standards; especially memory and exceptions</a:t>
                      </a:r>
                    </a:p>
                  </a:txBody>
                  <a:tcPr marL="36576" marR="36576" marT="18288" marB="18288">
                    <a:solidFill>
                      <a:srgbClr val="FFFFFF"/>
                    </a:solidFill>
                  </a:tcPr>
                </a:tc>
              </a:tr>
              <a:tr h="399010">
                <a:tc>
                  <a:txBody>
                    <a:bodyPr/>
                    <a:lstStyle/>
                    <a:p>
                      <a:pPr algn="l"/>
                      <a:r>
                        <a:rPr sz="819" b="0">
                          <a:solidFill>
                            <a:srgbClr val="000000"/>
                          </a:solidFill>
                          <a:latin typeface="Arial"/>
                        </a:rPr>
                        <a:t>5 Default deny</a:t>
                      </a:r>
                    </a:p>
                  </a:txBody>
                  <a:tcPr marL="36576" marR="36576" marT="18288" marB="18288">
                    <a:solidFill>
                      <a:srgbClr val="FFFFFF"/>
                    </a:solidFill>
                  </a:tcPr>
                </a:tc>
                <a:tc>
                  <a:txBody>
                    <a:bodyPr/>
                    <a:lstStyle/>
                    <a:p>
                      <a:pPr algn="l"/>
                      <a:r>
                        <a:rPr sz="819" b="0">
                          <a:solidFill>
                            <a:srgbClr val="000000"/>
                          </a:solidFill>
                          <a:latin typeface="Arial"/>
                        </a:rPr>
                        <a:t>SQL injection, authorization, Triple-A controls</a:t>
                      </a:r>
                    </a:p>
                  </a:txBody>
                  <a:tcPr marL="36576" marR="36576" marT="18288" marB="18288">
                    <a:solidFill>
                      <a:srgbClr val="FFFFFF"/>
                    </a:solidFill>
                  </a:tcPr>
                </a:tc>
              </a:tr>
              <a:tr h="399010">
                <a:tc>
                  <a:txBody>
                    <a:bodyPr/>
                    <a:lstStyle/>
                    <a:p>
                      <a:pPr algn="l"/>
                      <a:r>
                        <a:rPr sz="819" b="0">
                          <a:solidFill>
                            <a:srgbClr val="000000"/>
                          </a:solidFill>
                          <a:latin typeface="Arial"/>
                        </a:rPr>
                        <a:t>6 Least privilege</a:t>
                      </a:r>
                    </a:p>
                  </a:txBody>
                  <a:tcPr marL="36576" marR="36576" marT="18288" marB="18288">
                    <a:solidFill>
                      <a:srgbClr val="FFFFFF"/>
                    </a:solidFill>
                  </a:tcPr>
                </a:tc>
                <a:tc>
                  <a:txBody>
                    <a:bodyPr/>
                    <a:lstStyle/>
                    <a:p>
                      <a:pPr algn="l"/>
                      <a:r>
                        <a:rPr sz="819" b="0">
                          <a:solidFill>
                            <a:srgbClr val="000000"/>
                          </a:solidFill>
                          <a:latin typeface="Arial"/>
                        </a:rPr>
                        <a:t>Database access, file access, service accounts</a:t>
                      </a:r>
                    </a:p>
                  </a:txBody>
                  <a:tcPr marL="36576" marR="36576" marT="18288" marB="18288">
                    <a:solidFill>
                      <a:srgbClr val="FFFFFF"/>
                    </a:solidFill>
                  </a:tcPr>
                </a:tc>
              </a:tr>
              <a:tr h="399010">
                <a:tc>
                  <a:txBody>
                    <a:bodyPr/>
                    <a:lstStyle/>
                    <a:p>
                      <a:pPr algn="l"/>
                      <a:r>
                        <a:rPr sz="819" b="0">
                          <a:solidFill>
                            <a:srgbClr val="000000"/>
                          </a:solidFill>
                          <a:latin typeface="Arial"/>
                        </a:rPr>
                        <a:t>7 Sanitize data to other systems</a:t>
                      </a:r>
                    </a:p>
                  </a:txBody>
                  <a:tcPr marL="36576" marR="36576" marT="18288" marB="18288">
                    <a:solidFill>
                      <a:srgbClr val="FFFFFF"/>
                    </a:solidFill>
                  </a:tcPr>
                </a:tc>
                <a:tc>
                  <a:txBody>
                    <a:bodyPr/>
                    <a:lstStyle/>
                    <a:p>
                      <a:pPr algn="l"/>
                      <a:r>
                        <a:rPr sz="819" b="0">
                          <a:solidFill>
                            <a:srgbClr val="000000"/>
                          </a:solidFill>
                          <a:latin typeface="Arial"/>
                        </a:rPr>
                        <a:t>SQL, logs, output encoding</a:t>
                      </a:r>
                    </a:p>
                  </a:txBody>
                  <a:tcPr marL="36576" marR="36576" marT="18288" marB="18288">
                    <a:solidFill>
                      <a:srgbClr val="FFFFFF"/>
                    </a:solidFill>
                  </a:tcPr>
                </a:tc>
              </a:tr>
              <a:tr h="399010">
                <a:tc>
                  <a:txBody>
                    <a:bodyPr/>
                    <a:lstStyle/>
                    <a:p>
                      <a:pPr algn="l"/>
                      <a:r>
                        <a:rPr sz="819" b="0">
                          <a:solidFill>
                            <a:srgbClr val="000000"/>
                          </a:solidFill>
                          <a:latin typeface="Arial"/>
                        </a:rPr>
                        <a:t>8 Defense in depth</a:t>
                      </a:r>
                    </a:p>
                  </a:txBody>
                  <a:tcPr marL="36576" marR="36576" marT="18288" marB="18288">
                    <a:solidFill>
                      <a:srgbClr val="FFFFFF"/>
                    </a:solidFill>
                  </a:tcPr>
                </a:tc>
                <a:tc>
                  <a:txBody>
                    <a:bodyPr/>
                    <a:lstStyle/>
                    <a:p>
                      <a:pPr algn="l"/>
                      <a:r>
                        <a:rPr sz="819" b="0">
                          <a:solidFill>
                            <a:srgbClr val="000000"/>
                          </a:solidFill>
                          <a:latin typeface="Arial"/>
                        </a:rPr>
                        <a:t>All standards, tools, testing, monitoring</a:t>
                      </a:r>
                    </a:p>
                  </a:txBody>
                  <a:tcPr marL="36576" marR="36576" marT="18288" marB="18288">
                    <a:solidFill>
                      <a:srgbClr val="FFFFFF"/>
                    </a:solidFill>
                  </a:tcPr>
                </a:tc>
              </a:tr>
              <a:tr h="399010">
                <a:tc>
                  <a:txBody>
                    <a:bodyPr/>
                    <a:lstStyle/>
                    <a:p>
                      <a:pPr algn="l"/>
                      <a:r>
                        <a:rPr sz="819" b="0">
                          <a:solidFill>
                            <a:srgbClr val="000000"/>
                          </a:solidFill>
                          <a:latin typeface="Arial"/>
                        </a:rPr>
                        <a:t>9 Quality assurance</a:t>
                      </a:r>
                    </a:p>
                  </a:txBody>
                  <a:tcPr marL="36576" marR="36576" marT="18288" marB="18288">
                    <a:solidFill>
                      <a:srgbClr val="FFFFFF"/>
                    </a:solidFill>
                  </a:tcPr>
                </a:tc>
                <a:tc>
                  <a:txBody>
                    <a:bodyPr/>
                    <a:lstStyle/>
                    <a:p>
                      <a:pPr algn="l"/>
                      <a:r>
                        <a:rPr sz="819" b="0">
                          <a:solidFill>
                            <a:srgbClr val="000000"/>
                          </a:solidFill>
                          <a:latin typeface="Arial"/>
                        </a:rPr>
                        <a:t>Unit tests, static analysis, reviews</a:t>
                      </a:r>
                    </a:p>
                  </a:txBody>
                  <a:tcPr marL="36576" marR="36576" marT="18288" marB="18288">
                    <a:solidFill>
                      <a:srgbClr val="FFFFFF"/>
                    </a:solidFill>
                  </a:tcPr>
                </a:tc>
              </a:tr>
              <a:tr h="399020">
                <a:tc>
                  <a:txBody>
                    <a:bodyPr/>
                    <a:lstStyle/>
                    <a:p>
                      <a:pPr algn="l"/>
                      <a:r>
                        <a:rPr sz="819" b="0">
                          <a:solidFill>
                            <a:srgbClr val="000000"/>
                          </a:solidFill>
                          <a:latin typeface="Arial"/>
                        </a:rPr>
                        <a:t>10 Secure coding standard</a:t>
                      </a:r>
                    </a:p>
                  </a:txBody>
                  <a:tcPr marL="36576" marR="36576" marT="18288" marB="18288">
                    <a:solidFill>
                      <a:srgbClr val="FFFFFF"/>
                    </a:solidFill>
                  </a:tcPr>
                </a:tc>
                <a:tc>
                  <a:txBody>
                    <a:bodyPr/>
                    <a:lstStyle/>
                    <a:p>
                      <a:pPr algn="l"/>
                      <a:r>
                        <a:rPr sz="819" b="0">
                          <a:solidFill>
                            <a:srgbClr val="000000"/>
                          </a:solidFill>
                          <a:latin typeface="Arial"/>
                        </a:rPr>
                        <a:t>SEI CERT C++ and Green Pace policy</a:t>
                      </a:r>
                    </a:p>
                  </a:txBody>
                  <a:tcPr marL="36576" marR="36576" marT="18288" marB="18288">
                    <a:solidFill>
                      <a:srgbClr val="FFFFFF"/>
                    </a:solidFill>
                  </a:tcPr>
                </a:tc>
              </a:tr>
            </a:tbl>
          </a:graphicData>
        </a:graphic>
      </p:graphicFrame>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CODING STANDARDS</a:t>
            </a: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p:txBody>
      </p:sp>
      <p:pic>
        <p:nvPicPr>
          <p:cNvPr id="176" name="Google Shape;176;p6"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177" name="Table 176"/>
          <p:cNvGraphicFramePr>
            <a:graphicFrameLocks noGrp="1"/>
          </p:cNvGraphicFramePr>
          <p:nvPr/>
        </p:nvGraphicFramePr>
        <p:xfrm>
          <a:off x="502920" y="1508760"/>
          <a:ext cx="11064240" cy="4709160"/>
        </p:xfrm>
        <a:graphic>
          <a:graphicData uri="http://schemas.openxmlformats.org/drawingml/2006/table">
            <a:tbl>
              <a:tblPr firstRow="1" bandRow="1">
                <a:tableStyleId>{5C22544A-7EE6-4342-B048-85BDC9FD1C3A}</a:tableStyleId>
              </a:tblPr>
              <a:tblGrid>
                <a:gridCol w="3688080"/>
                <a:gridCol w="3688080"/>
                <a:gridCol w="3688080"/>
              </a:tblGrid>
              <a:tr h="428105">
                <a:tc>
                  <a:txBody>
                    <a:bodyPr/>
                    <a:lstStyle/>
                    <a:p>
                      <a:pPr algn="ctr"/>
                      <a:r>
                        <a:rPr sz="720" b="1">
                          <a:solidFill>
                            <a:srgbClr val="000000"/>
                          </a:solidFill>
                          <a:latin typeface="Arial"/>
                        </a:rPr>
                        <a:t>Priority</a:t>
                      </a:r>
                    </a:p>
                  </a:txBody>
                  <a:tcPr marL="36576" marR="36576" marT="18288" marB="18288">
                    <a:solidFill>
                      <a:srgbClr val="EBEBEB"/>
                    </a:solidFill>
                  </a:tcPr>
                </a:tc>
                <a:tc>
                  <a:txBody>
                    <a:bodyPr/>
                    <a:lstStyle/>
                    <a:p>
                      <a:pPr algn="ctr"/>
                      <a:r>
                        <a:rPr sz="720" b="1">
                          <a:solidFill>
                            <a:srgbClr val="000000"/>
                          </a:solidFill>
                          <a:latin typeface="Arial"/>
                        </a:rPr>
                        <a:t>Standard</a:t>
                      </a:r>
                    </a:p>
                  </a:txBody>
                  <a:tcPr marL="36576" marR="36576" marT="18288" marB="18288">
                    <a:solidFill>
                      <a:srgbClr val="EBEBEB"/>
                    </a:solidFill>
                  </a:tcPr>
                </a:tc>
                <a:tc>
                  <a:txBody>
                    <a:bodyPr/>
                    <a:lstStyle/>
                    <a:p>
                      <a:pPr algn="ctr"/>
                      <a:r>
                        <a:rPr sz="720" b="1">
                          <a:solidFill>
                            <a:srgbClr val="000000"/>
                          </a:solidFill>
                          <a:latin typeface="Arial"/>
                        </a:rPr>
                        <a:t>Reason</a:t>
                      </a:r>
                    </a:p>
                  </a:txBody>
                  <a:tcPr marL="36576" marR="36576" marT="18288" marB="18288">
                    <a:solidFill>
                      <a:srgbClr val="EBEBEB"/>
                    </a:solidFill>
                  </a:tcPr>
                </a:tc>
              </a:tr>
              <a:tr h="428105">
                <a:tc>
                  <a:txBody>
                    <a:bodyPr/>
                    <a:lstStyle/>
                    <a:p>
                      <a:pPr algn="l"/>
                      <a:r>
                        <a:rPr sz="720" b="0">
                          <a:solidFill>
                            <a:srgbClr val="000000"/>
                          </a:solidFill>
                          <a:latin typeface="Arial"/>
                        </a:rPr>
                        <a:t>1</a:t>
                      </a:r>
                    </a:p>
                  </a:txBody>
                  <a:tcPr marL="36576" marR="36576" marT="18288" marB="18288">
                    <a:solidFill>
                      <a:srgbClr val="FFFFFF"/>
                    </a:solidFill>
                  </a:tcPr>
                </a:tc>
                <a:tc>
                  <a:txBody>
                    <a:bodyPr/>
                    <a:lstStyle/>
                    <a:p>
                      <a:pPr algn="l"/>
                      <a:r>
                        <a:rPr sz="720" b="0">
                          <a:solidFill>
                            <a:srgbClr val="000000"/>
                          </a:solidFill>
                          <a:latin typeface="Arial"/>
                        </a:rPr>
                        <a:t>STD-004-SQL: Parameterized SQL</a:t>
                      </a:r>
                    </a:p>
                  </a:txBody>
                  <a:tcPr marL="36576" marR="36576" marT="18288" marB="18288">
                    <a:solidFill>
                      <a:srgbClr val="FFFFFF"/>
                    </a:solidFill>
                  </a:tcPr>
                </a:tc>
                <a:tc>
                  <a:txBody>
                    <a:bodyPr/>
                    <a:lstStyle/>
                    <a:p>
                      <a:pPr algn="l"/>
                      <a:r>
                        <a:rPr sz="720" b="0">
                          <a:solidFill>
                            <a:srgbClr val="000000"/>
                          </a:solidFill>
                          <a:latin typeface="Arial"/>
                        </a:rPr>
                        <a:t>Prevents query manipulation and credential/data exposure</a:t>
                      </a:r>
                    </a:p>
                  </a:txBody>
                  <a:tcPr marL="36576" marR="36576" marT="18288" marB="18288">
                    <a:solidFill>
                      <a:srgbClr val="FFFFFF"/>
                    </a:solidFill>
                  </a:tcPr>
                </a:tc>
              </a:tr>
              <a:tr h="428105">
                <a:tc>
                  <a:txBody>
                    <a:bodyPr/>
                    <a:lstStyle/>
                    <a:p>
                      <a:pPr algn="l"/>
                      <a:r>
                        <a:rPr sz="720" b="0">
                          <a:solidFill>
                            <a:srgbClr val="000000"/>
                          </a:solidFill>
                          <a:latin typeface="Arial"/>
                        </a:rPr>
                        <a:t>2</a:t>
                      </a:r>
                    </a:p>
                  </a:txBody>
                  <a:tcPr marL="36576" marR="36576" marT="18288" marB="18288">
                    <a:solidFill>
                      <a:srgbClr val="FFFFFF"/>
                    </a:solidFill>
                  </a:tcPr>
                </a:tc>
                <a:tc>
                  <a:txBody>
                    <a:bodyPr/>
                    <a:lstStyle/>
                    <a:p>
                      <a:pPr algn="l"/>
                      <a:r>
                        <a:rPr sz="720" b="0">
                          <a:solidFill>
                            <a:srgbClr val="000000"/>
                          </a:solidFill>
                          <a:latin typeface="Arial"/>
                        </a:rPr>
                        <a:t>STD-005-MEM: Memory protection</a:t>
                      </a:r>
                    </a:p>
                  </a:txBody>
                  <a:tcPr marL="36576" marR="36576" marT="18288" marB="18288">
                    <a:solidFill>
                      <a:srgbClr val="FFFFFF"/>
                    </a:solidFill>
                  </a:tcPr>
                </a:tc>
                <a:tc>
                  <a:txBody>
                    <a:bodyPr/>
                    <a:lstStyle/>
                    <a:p>
                      <a:pPr algn="l"/>
                      <a:r>
                        <a:rPr sz="720" b="0">
                          <a:solidFill>
                            <a:srgbClr val="000000"/>
                          </a:solidFill>
                          <a:latin typeface="Arial"/>
                        </a:rPr>
                        <a:t>Prevents corruption, crashes, and undefined behavior</a:t>
                      </a:r>
                    </a:p>
                  </a:txBody>
                  <a:tcPr marL="36576" marR="36576" marT="18288" marB="18288">
                    <a:solidFill>
                      <a:srgbClr val="FFFFFF"/>
                    </a:solidFill>
                  </a:tcPr>
                </a:tc>
              </a:tr>
              <a:tr h="428105">
                <a:tc>
                  <a:txBody>
                    <a:bodyPr/>
                    <a:lstStyle/>
                    <a:p>
                      <a:pPr algn="l"/>
                      <a:r>
                        <a:rPr sz="720" b="0">
                          <a:solidFill>
                            <a:srgbClr val="000000"/>
                          </a:solidFill>
                          <a:latin typeface="Arial"/>
                        </a:rPr>
                        <a:t>3</a:t>
                      </a:r>
                    </a:p>
                  </a:txBody>
                  <a:tcPr marL="36576" marR="36576" marT="18288" marB="18288">
                    <a:solidFill>
                      <a:srgbClr val="FFFFFF"/>
                    </a:solidFill>
                  </a:tcPr>
                </a:tc>
                <a:tc>
                  <a:txBody>
                    <a:bodyPr/>
                    <a:lstStyle/>
                    <a:p>
                      <a:pPr algn="l"/>
                      <a:r>
                        <a:rPr sz="720" b="0">
                          <a:solidFill>
                            <a:srgbClr val="000000"/>
                          </a:solidFill>
                          <a:latin typeface="Arial"/>
                        </a:rPr>
                        <a:t>STD-002-INT: Numeric validation</a:t>
                      </a:r>
                    </a:p>
                  </a:txBody>
                  <a:tcPr marL="36576" marR="36576" marT="18288" marB="18288">
                    <a:solidFill>
                      <a:srgbClr val="FFFFFF"/>
                    </a:solidFill>
                  </a:tcPr>
                </a:tc>
                <a:tc>
                  <a:txBody>
                    <a:bodyPr/>
                    <a:lstStyle/>
                    <a:p>
                      <a:pPr algn="l"/>
                      <a:r>
                        <a:rPr sz="720" b="0">
                          <a:solidFill>
                            <a:srgbClr val="000000"/>
                          </a:solidFill>
                          <a:latin typeface="Arial"/>
                        </a:rPr>
                        <a:t>Prevents overflow, invalid sizes, and unsafe conversions</a:t>
                      </a:r>
                    </a:p>
                  </a:txBody>
                  <a:tcPr marL="36576" marR="36576" marT="18288" marB="18288">
                    <a:solidFill>
                      <a:srgbClr val="FFFFFF"/>
                    </a:solidFill>
                  </a:tcPr>
                </a:tc>
              </a:tr>
              <a:tr h="428105">
                <a:tc>
                  <a:txBody>
                    <a:bodyPr/>
                    <a:lstStyle/>
                    <a:p>
                      <a:pPr algn="l"/>
                      <a:r>
                        <a:rPr sz="720" b="0">
                          <a:solidFill>
                            <a:srgbClr val="000000"/>
                          </a:solidFill>
                          <a:latin typeface="Arial"/>
                        </a:rPr>
                        <a:t>4</a:t>
                      </a:r>
                    </a:p>
                  </a:txBody>
                  <a:tcPr marL="36576" marR="36576" marT="18288" marB="18288">
                    <a:solidFill>
                      <a:srgbClr val="FFFFFF"/>
                    </a:solidFill>
                  </a:tcPr>
                </a:tc>
                <a:tc>
                  <a:txBody>
                    <a:bodyPr/>
                    <a:lstStyle/>
                    <a:p>
                      <a:pPr algn="l"/>
                      <a:r>
                        <a:rPr sz="720" b="0">
                          <a:solidFill>
                            <a:srgbClr val="000000"/>
                          </a:solidFill>
                          <a:latin typeface="Arial"/>
                        </a:rPr>
                        <a:t>STD-003-STR: Bounded strings</a:t>
                      </a:r>
                    </a:p>
                  </a:txBody>
                  <a:tcPr marL="36576" marR="36576" marT="18288" marB="18288">
                    <a:solidFill>
                      <a:srgbClr val="FFFFFF"/>
                    </a:solidFill>
                  </a:tcPr>
                </a:tc>
                <a:tc>
                  <a:txBody>
                    <a:bodyPr/>
                    <a:lstStyle/>
                    <a:p>
                      <a:pPr algn="l"/>
                      <a:r>
                        <a:rPr sz="720" b="0">
                          <a:solidFill>
                            <a:srgbClr val="000000"/>
                          </a:solidFill>
                          <a:latin typeface="Arial"/>
                        </a:rPr>
                        <a:t>Prevents buffer overflow and string corruption</a:t>
                      </a:r>
                    </a:p>
                  </a:txBody>
                  <a:tcPr marL="36576" marR="36576" marT="18288" marB="18288">
                    <a:solidFill>
                      <a:srgbClr val="FFFFFF"/>
                    </a:solidFill>
                  </a:tcPr>
                </a:tc>
              </a:tr>
              <a:tr h="428105">
                <a:tc>
                  <a:txBody>
                    <a:bodyPr/>
                    <a:lstStyle/>
                    <a:p>
                      <a:pPr algn="l"/>
                      <a:r>
                        <a:rPr sz="720" b="0">
                          <a:solidFill>
                            <a:srgbClr val="000000"/>
                          </a:solidFill>
                          <a:latin typeface="Arial"/>
                        </a:rPr>
                        <a:t>5</a:t>
                      </a:r>
                    </a:p>
                  </a:txBody>
                  <a:tcPr marL="36576" marR="36576" marT="18288" marB="18288">
                    <a:solidFill>
                      <a:srgbClr val="FFFFFF"/>
                    </a:solidFill>
                  </a:tcPr>
                </a:tc>
                <a:tc>
                  <a:txBody>
                    <a:bodyPr/>
                    <a:lstStyle/>
                    <a:p>
                      <a:pPr algn="l"/>
                      <a:r>
                        <a:rPr sz="720" b="0">
                          <a:solidFill>
                            <a:srgbClr val="000000"/>
                          </a:solidFill>
                          <a:latin typeface="Arial"/>
                        </a:rPr>
                        <a:t>STD-001-DCL: Initialized data types</a:t>
                      </a:r>
                    </a:p>
                  </a:txBody>
                  <a:tcPr marL="36576" marR="36576" marT="18288" marB="18288">
                    <a:solidFill>
                      <a:srgbClr val="FFFFFF"/>
                    </a:solidFill>
                  </a:tcPr>
                </a:tc>
                <a:tc>
                  <a:txBody>
                    <a:bodyPr/>
                    <a:lstStyle/>
                    <a:p>
                      <a:pPr algn="l"/>
                      <a:r>
                        <a:rPr sz="720" b="0">
                          <a:solidFill>
                            <a:srgbClr val="000000"/>
                          </a:solidFill>
                          <a:latin typeface="Arial"/>
                        </a:rPr>
                        <a:t>Prevents unpredictable values in security decisions</a:t>
                      </a:r>
                    </a:p>
                  </a:txBody>
                  <a:tcPr marL="36576" marR="36576" marT="18288" marB="18288">
                    <a:solidFill>
                      <a:srgbClr val="FFFFFF"/>
                    </a:solidFill>
                  </a:tcPr>
                </a:tc>
              </a:tr>
              <a:tr h="428105">
                <a:tc>
                  <a:txBody>
                    <a:bodyPr/>
                    <a:lstStyle/>
                    <a:p>
                      <a:pPr algn="l"/>
                      <a:r>
                        <a:rPr sz="720" b="0">
                          <a:solidFill>
                            <a:srgbClr val="000000"/>
                          </a:solidFill>
                          <a:latin typeface="Arial"/>
                        </a:rPr>
                        <a:t>6</a:t>
                      </a:r>
                    </a:p>
                  </a:txBody>
                  <a:tcPr marL="36576" marR="36576" marT="18288" marB="18288">
                    <a:solidFill>
                      <a:srgbClr val="FFFFFF"/>
                    </a:solidFill>
                  </a:tcPr>
                </a:tc>
                <a:tc>
                  <a:txBody>
                    <a:bodyPr/>
                    <a:lstStyle/>
                    <a:p>
                      <a:pPr algn="l"/>
                      <a:r>
                        <a:rPr sz="720" b="0">
                          <a:solidFill>
                            <a:srgbClr val="000000"/>
                          </a:solidFill>
                          <a:latin typeface="Arial"/>
                        </a:rPr>
                        <a:t>STD-006-ASSERT: Safe assertions</a:t>
                      </a:r>
                    </a:p>
                  </a:txBody>
                  <a:tcPr marL="36576" marR="36576" marT="18288" marB="18288">
                    <a:solidFill>
                      <a:srgbClr val="FFFFFF"/>
                    </a:solidFill>
                  </a:tcPr>
                </a:tc>
                <a:tc>
                  <a:txBody>
                    <a:bodyPr/>
                    <a:lstStyle/>
                    <a:p>
                      <a:pPr algn="l"/>
                      <a:r>
                        <a:rPr sz="720" b="0">
                          <a:solidFill>
                            <a:srgbClr val="000000"/>
                          </a:solidFill>
                          <a:latin typeface="Arial"/>
                        </a:rPr>
                        <a:t>Prevents debug-only checks from becoming production controls</a:t>
                      </a:r>
                    </a:p>
                  </a:txBody>
                  <a:tcPr marL="36576" marR="36576" marT="18288" marB="18288">
                    <a:solidFill>
                      <a:srgbClr val="FFFFFF"/>
                    </a:solidFill>
                  </a:tcPr>
                </a:tc>
              </a:tr>
              <a:tr h="428105">
                <a:tc>
                  <a:txBody>
                    <a:bodyPr/>
                    <a:lstStyle/>
                    <a:p>
                      <a:pPr algn="l"/>
                      <a:r>
                        <a:rPr sz="720" b="0">
                          <a:solidFill>
                            <a:srgbClr val="000000"/>
                          </a:solidFill>
                          <a:latin typeface="Arial"/>
                        </a:rPr>
                        <a:t>7</a:t>
                      </a:r>
                    </a:p>
                  </a:txBody>
                  <a:tcPr marL="36576" marR="36576" marT="18288" marB="18288">
                    <a:solidFill>
                      <a:srgbClr val="FFFFFF"/>
                    </a:solidFill>
                  </a:tcPr>
                </a:tc>
                <a:tc>
                  <a:txBody>
                    <a:bodyPr/>
                    <a:lstStyle/>
                    <a:p>
                      <a:pPr algn="l"/>
                      <a:r>
                        <a:rPr sz="720" b="0">
                          <a:solidFill>
                            <a:srgbClr val="000000"/>
                          </a:solidFill>
                          <a:latin typeface="Arial"/>
                        </a:rPr>
                        <a:t>STD-007-ERR: Exceptions</a:t>
                      </a:r>
                    </a:p>
                  </a:txBody>
                  <a:tcPr marL="36576" marR="36576" marT="18288" marB="18288">
                    <a:solidFill>
                      <a:srgbClr val="FFFFFF"/>
                    </a:solidFill>
                  </a:tcPr>
                </a:tc>
                <a:tc>
                  <a:txBody>
                    <a:bodyPr/>
                    <a:lstStyle/>
                    <a:p>
                      <a:pPr algn="l"/>
                      <a:r>
                        <a:rPr sz="720" b="0">
                          <a:solidFill>
                            <a:srgbClr val="000000"/>
                          </a:solidFill>
                          <a:latin typeface="Arial"/>
                        </a:rPr>
                        <a:t>Prevents unsafe failures and hidden errors</a:t>
                      </a:r>
                    </a:p>
                  </a:txBody>
                  <a:tcPr marL="36576" marR="36576" marT="18288" marB="18288">
                    <a:solidFill>
                      <a:srgbClr val="FFFFFF"/>
                    </a:solidFill>
                  </a:tcPr>
                </a:tc>
              </a:tr>
              <a:tr h="428105">
                <a:tc>
                  <a:txBody>
                    <a:bodyPr/>
                    <a:lstStyle/>
                    <a:p>
                      <a:pPr algn="l"/>
                      <a:r>
                        <a:rPr sz="720" b="0">
                          <a:solidFill>
                            <a:srgbClr val="000000"/>
                          </a:solidFill>
                          <a:latin typeface="Arial"/>
                        </a:rPr>
                        <a:t>8</a:t>
                      </a:r>
                    </a:p>
                  </a:txBody>
                  <a:tcPr marL="36576" marR="36576" marT="18288" marB="18288">
                    <a:solidFill>
                      <a:srgbClr val="FFFFFF"/>
                    </a:solidFill>
                  </a:tcPr>
                </a:tc>
                <a:tc>
                  <a:txBody>
                    <a:bodyPr/>
                    <a:lstStyle/>
                    <a:p>
                      <a:pPr algn="l"/>
                      <a:r>
                        <a:rPr sz="720" b="0">
                          <a:solidFill>
                            <a:srgbClr val="000000"/>
                          </a:solidFill>
                          <a:latin typeface="Arial"/>
                        </a:rPr>
                        <a:t>STD-008-AUTHN: Authentication</a:t>
                      </a:r>
                    </a:p>
                  </a:txBody>
                  <a:tcPr marL="36576" marR="36576" marT="18288" marB="18288">
                    <a:solidFill>
                      <a:srgbClr val="FFFFFF"/>
                    </a:solidFill>
                  </a:tcPr>
                </a:tc>
                <a:tc>
                  <a:txBody>
                    <a:bodyPr/>
                    <a:lstStyle/>
                    <a:p>
                      <a:pPr algn="l"/>
                      <a:r>
                        <a:rPr sz="720" b="0">
                          <a:solidFill>
                            <a:srgbClr val="000000"/>
                          </a:solidFill>
                          <a:latin typeface="Arial"/>
                        </a:rPr>
                        <a:t>Confirms user identity before access</a:t>
                      </a:r>
                    </a:p>
                  </a:txBody>
                  <a:tcPr marL="36576" marR="36576" marT="18288" marB="18288">
                    <a:solidFill>
                      <a:srgbClr val="FFFFFF"/>
                    </a:solidFill>
                  </a:tcPr>
                </a:tc>
              </a:tr>
              <a:tr h="428105">
                <a:tc>
                  <a:txBody>
                    <a:bodyPr/>
                    <a:lstStyle/>
                    <a:p>
                      <a:pPr algn="l"/>
                      <a:r>
                        <a:rPr sz="720" b="0">
                          <a:solidFill>
                            <a:srgbClr val="000000"/>
                          </a:solidFill>
                          <a:latin typeface="Arial"/>
                        </a:rPr>
                        <a:t>9</a:t>
                      </a:r>
                    </a:p>
                  </a:txBody>
                  <a:tcPr marL="36576" marR="36576" marT="18288" marB="18288">
                    <a:solidFill>
                      <a:srgbClr val="FFFFFF"/>
                    </a:solidFill>
                  </a:tcPr>
                </a:tc>
                <a:tc>
                  <a:txBody>
                    <a:bodyPr/>
                    <a:lstStyle/>
                    <a:p>
                      <a:pPr algn="l"/>
                      <a:r>
                        <a:rPr sz="720" b="0">
                          <a:solidFill>
                            <a:srgbClr val="000000"/>
                          </a:solidFill>
                          <a:latin typeface="Arial"/>
                        </a:rPr>
                        <a:t>STD-009-AUTHZ: Authorization</a:t>
                      </a:r>
                    </a:p>
                  </a:txBody>
                  <a:tcPr marL="36576" marR="36576" marT="18288" marB="18288">
                    <a:solidFill>
                      <a:srgbClr val="FFFFFF"/>
                    </a:solidFill>
                  </a:tcPr>
                </a:tc>
                <a:tc>
                  <a:txBody>
                    <a:bodyPr/>
                    <a:lstStyle/>
                    <a:p>
                      <a:pPr algn="l"/>
                      <a:r>
                        <a:rPr sz="720" b="0">
                          <a:solidFill>
                            <a:srgbClr val="000000"/>
                          </a:solidFill>
                          <a:latin typeface="Arial"/>
                        </a:rPr>
                        <a:t>Limits actions by role and least privilege</a:t>
                      </a:r>
                    </a:p>
                  </a:txBody>
                  <a:tcPr marL="36576" marR="36576" marT="18288" marB="18288">
                    <a:solidFill>
                      <a:srgbClr val="FFFFFF"/>
                    </a:solidFill>
                  </a:tcPr>
                </a:tc>
              </a:tr>
              <a:tr h="428110">
                <a:tc>
                  <a:txBody>
                    <a:bodyPr/>
                    <a:lstStyle/>
                    <a:p>
                      <a:pPr algn="l"/>
                      <a:r>
                        <a:rPr sz="720" b="0">
                          <a:solidFill>
                            <a:srgbClr val="000000"/>
                          </a:solidFill>
                          <a:latin typeface="Arial"/>
                        </a:rPr>
                        <a:t>10</a:t>
                      </a:r>
                    </a:p>
                  </a:txBody>
                  <a:tcPr marL="36576" marR="36576" marT="18288" marB="18288">
                    <a:solidFill>
                      <a:srgbClr val="FFFFFF"/>
                    </a:solidFill>
                  </a:tcPr>
                </a:tc>
                <a:tc>
                  <a:txBody>
                    <a:bodyPr/>
                    <a:lstStyle/>
                    <a:p>
                      <a:pPr algn="l"/>
                      <a:r>
                        <a:rPr sz="720" b="0">
                          <a:solidFill>
                            <a:srgbClr val="000000"/>
                          </a:solidFill>
                          <a:latin typeface="Arial"/>
                        </a:rPr>
                        <a:t>STD-010-AUD: Accounting/logging</a:t>
                      </a:r>
                    </a:p>
                  </a:txBody>
                  <a:tcPr marL="36576" marR="36576" marT="18288" marB="18288">
                    <a:solidFill>
                      <a:srgbClr val="FFFFFF"/>
                    </a:solidFill>
                  </a:tcPr>
                </a:tc>
                <a:tc>
                  <a:txBody>
                    <a:bodyPr/>
                    <a:lstStyle/>
                    <a:p>
                      <a:pPr algn="l"/>
                      <a:r>
                        <a:rPr sz="720" b="0">
                          <a:solidFill>
                            <a:srgbClr val="000000"/>
                          </a:solidFill>
                          <a:latin typeface="Arial"/>
                        </a:rPr>
                        <a:t>Creates evidence for monitoring and audits</a:t>
                      </a:r>
                    </a:p>
                  </a:txBody>
                  <a:tcPr marL="36576" marR="36576" marT="18288" marB="18288">
                    <a:solidFill>
                      <a:srgbClr val="FFFFFF"/>
                    </a:solidFill>
                  </a:tcPr>
                </a:tc>
              </a:tr>
            </a:tbl>
          </a:graphicData>
        </a:graphic>
      </p:graphicFrame>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ENCRYPTION POLICIES</a:t>
            </a:r>
          </a:p>
        </p:txBody>
      </p:sp>
      <p:sp>
        <p:nvSpPr>
          <p:cNvPr id="182" name="Google Shape;182;p7"/>
          <p:cNvSpPr txBox="1">
            <a:spLocks noGrp="1"/>
          </p:cNvSpPr>
          <p:nvPr>
            <p:ph type="body" idx="1"/>
          </p:nvPr>
        </p:nvSpPr>
        <p:spPr>
          <a:xfrm>
            <a:off x="685800" y="1828800"/>
            <a:ext cx="10789920" cy="4343400"/>
          </a:xfrm>
          <a:prstGeom prst="rect">
            <a:avLst/>
          </a:prstGeom>
          <a:noFill/>
          <a:ln>
            <a:noFill/>
          </a:ln>
        </p:spPr>
        <p:txBody>
          <a:bodyPr spcFirstLastPara="1" wrap="square" lIns="91425" tIns="45700" rIns="91425" bIns="45700" anchor="t" anchorCtr="0">
            <a:normAutofit/>
          </a:bodyPr>
          <a:lstStyle/>
          <a:p>
            <a:pPr algn="l"/>
            <a:r>
              <a:rPr sz="1500" b="0">
                <a:solidFill>
                  <a:srgbClr val="FFFFFF"/>
                </a:solidFill>
                <a:latin typeface="Arial"/>
              </a:rPr>
              <a:t>In flight: Use TLS 1.2 or higher for application traffic, APIs, database connections, and administrative access.</a:t>
            </a:r>
          </a:p>
          <a:p>
            <a:pPr algn="l"/>
            <a:r>
              <a:rPr sz="1500" b="0">
                <a:solidFill>
                  <a:srgbClr val="FFFFFF"/>
                </a:solidFill>
                <a:latin typeface="Arial"/>
              </a:rPr>
              <a:t/>
            </a:r>
          </a:p>
          <a:p>
            <a:pPr algn="l"/>
            <a:r>
              <a:rPr sz="1500" b="0">
                <a:solidFill>
                  <a:srgbClr val="FFFFFF"/>
                </a:solidFill>
                <a:latin typeface="Arial"/>
              </a:rPr>
              <a:t>At rest: Encrypt databases, backups, logs with sensitive data, storage volumes, and configuration secrets using approved algorithms and managed keys.</a:t>
            </a:r>
          </a:p>
          <a:p>
            <a:pPr algn="l"/>
            <a:r>
              <a:rPr sz="1500" b="0">
                <a:solidFill>
                  <a:srgbClr val="FFFFFF"/>
                </a:solidFill>
                <a:latin typeface="Arial"/>
              </a:rPr>
              <a:t/>
            </a:r>
          </a:p>
          <a:p>
            <a:pPr algn="l"/>
            <a:r>
              <a:rPr sz="1500" b="0">
                <a:solidFill>
                  <a:srgbClr val="FFFFFF"/>
                </a:solidFill>
                <a:latin typeface="Arial"/>
              </a:rPr>
              <a:t>In use: Minimize sensitive data in memory, protect keys, clear secrets when possible, and restrict access to running processes.</a:t>
            </a:r>
          </a:p>
        </p:txBody>
      </p:sp>
      <p:pic>
        <p:nvPicPr>
          <p:cNvPr id="183" name="Google Shape;183;p7"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TRIPLE-A POLICIES</a:t>
            </a:r>
          </a:p>
        </p:txBody>
      </p:sp>
      <p:sp>
        <p:nvSpPr>
          <p:cNvPr id="189" name="Google Shape;189;p8"/>
          <p:cNvSpPr txBox="1">
            <a:spLocks noGrp="1"/>
          </p:cNvSpPr>
          <p:nvPr>
            <p:ph type="body" idx="1"/>
          </p:nvPr>
        </p:nvSpPr>
        <p:spPr>
          <a:xfrm>
            <a:off x="685800" y="1828800"/>
            <a:ext cx="10789920" cy="4343400"/>
          </a:xfrm>
          <a:prstGeom prst="rect">
            <a:avLst/>
          </a:prstGeom>
          <a:noFill/>
          <a:ln>
            <a:noFill/>
          </a:ln>
        </p:spPr>
        <p:txBody>
          <a:bodyPr spcFirstLastPara="1" wrap="square" lIns="91425" tIns="45700" rIns="91425" bIns="45700" anchor="t" anchorCtr="0">
            <a:normAutofit/>
          </a:bodyPr>
          <a:lstStyle/>
          <a:p>
            <a:pPr algn="l"/>
            <a:r>
              <a:rPr sz="1500" b="0">
                <a:solidFill>
                  <a:srgbClr val="FFFFFF"/>
                </a:solidFill>
                <a:latin typeface="Arial"/>
              </a:rPr>
              <a:t>Authentication: Verify user identity using strong password rules, MFA for privileged users, secure session handling, and lockout/rate limits.</a:t>
            </a:r>
          </a:p>
          <a:p>
            <a:pPr algn="l"/>
            <a:r>
              <a:rPr sz="1500" b="0">
                <a:solidFill>
                  <a:srgbClr val="FFFFFF"/>
                </a:solidFill>
                <a:latin typeface="Arial"/>
              </a:rPr>
              <a:t/>
            </a:r>
          </a:p>
          <a:p>
            <a:pPr algn="l"/>
            <a:r>
              <a:rPr sz="1500" b="0">
                <a:solidFill>
                  <a:srgbClr val="FFFFFF"/>
                </a:solidFill>
                <a:latin typeface="Arial"/>
              </a:rPr>
              <a:t>Authorization: Enforce role-based access control, default deny, least privilege, and separation of duties.</a:t>
            </a:r>
          </a:p>
          <a:p>
            <a:pPr algn="l"/>
            <a:r>
              <a:rPr sz="1500" b="0">
                <a:solidFill>
                  <a:srgbClr val="FFFFFF"/>
                </a:solidFill>
                <a:latin typeface="Arial"/>
              </a:rPr>
              <a:t/>
            </a:r>
          </a:p>
          <a:p>
            <a:pPr algn="l"/>
            <a:r>
              <a:rPr sz="1500" b="0">
                <a:solidFill>
                  <a:srgbClr val="FFFFFF"/>
                </a:solidFill>
                <a:latin typeface="Arial"/>
              </a:rPr>
              <a:t>Accounting: Record meaningful security events, access changes, failed logins, privileged actions, database changes, and file access.</a:t>
            </a:r>
          </a:p>
        </p:txBody>
      </p:sp>
      <p:pic>
        <p:nvPicPr>
          <p:cNvPr id="190" name="Google Shape;190;p8"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UNIT TESTING: VULNERABILITY SELECTED</a:t>
            </a:r>
          </a:p>
        </p:txBody>
      </p:sp>
      <p:sp>
        <p:nvSpPr>
          <p:cNvPr id="196" name="Google Shape;196;g9504e29505_0_0"/>
          <p:cNvSpPr txBox="1">
            <a:spLocks noGrp="1"/>
          </p:cNvSpPr>
          <p:nvPr>
            <p:ph type="body" idx="1"/>
          </p:nvPr>
        </p:nvSpPr>
        <p:spPr>
          <a:xfrm>
            <a:off x="685800" y="1828800"/>
            <a:ext cx="10789920" cy="4343400"/>
          </a:xfrm>
          <a:prstGeom prst="rect">
            <a:avLst/>
          </a:prstGeom>
          <a:noFill/>
          <a:ln>
            <a:noFill/>
          </a:ln>
        </p:spPr>
        <p:txBody>
          <a:bodyPr spcFirstLastPara="1" wrap="square" lIns="91425" tIns="45700" rIns="91425" bIns="45700" anchor="t" anchorCtr="0">
            <a:normAutofit/>
          </a:bodyPr>
          <a:lstStyle/>
          <a:p>
            <a:pPr algn="l"/>
            <a:r>
              <a:rPr sz="1500" b="0">
                <a:solidFill>
                  <a:srgbClr val="FFFFFF"/>
                </a:solidFill>
                <a:latin typeface="Arial"/>
              </a:rPr>
              <a:t>Vulnerability tested: unsafe vector handling / memory protection.</a:t>
            </a:r>
          </a:p>
          <a:p>
            <a:pPr algn="l"/>
            <a:r>
              <a:rPr sz="1500" b="0">
                <a:solidFill>
                  <a:srgbClr val="FFFFFF"/>
                </a:solidFill>
                <a:latin typeface="Arial"/>
              </a:rPr>
              <a:t/>
            </a:r>
          </a:p>
          <a:p>
            <a:pPr algn="l"/>
            <a:r>
              <a:rPr sz="1500" b="0">
                <a:solidFill>
                  <a:srgbClr val="FFFFFF"/>
                </a:solidFill>
                <a:latin typeface="Arial"/>
              </a:rPr>
              <a:t>Testing framework: Google Test in Visual Studio.</a:t>
            </a:r>
          </a:p>
          <a:p>
            <a:pPr algn="l"/>
            <a:r>
              <a:rPr sz="1500" b="0">
                <a:solidFill>
                  <a:srgbClr val="FFFFFF"/>
                </a:solidFill>
                <a:latin typeface="Arial"/>
              </a:rPr>
              <a:t/>
            </a:r>
          </a:p>
          <a:p>
            <a:pPr algn="l"/>
            <a:r>
              <a:rPr sz="1500" b="0">
                <a:solidFill>
                  <a:srgbClr val="FFFFFF"/>
                </a:solidFill>
                <a:latin typeface="Arial"/>
              </a:rPr>
              <a:t>Goal: verify that normal vector operations work and invalid or boundary conditions fail safely instead of corrupting memory or crashing unexpectedly.</a:t>
            </a:r>
          </a:p>
          <a:p>
            <a:pPr algn="l"/>
            <a:r>
              <a:rPr sz="1500" b="0">
                <a:solidFill>
                  <a:srgbClr val="FFFFFF"/>
                </a:solidFill>
                <a:latin typeface="Arial"/>
              </a:rPr>
              <a:t/>
            </a:r>
          </a:p>
          <a:p>
            <a:pPr algn="l"/>
            <a:r>
              <a:rPr sz="1500" b="0">
                <a:solidFill>
                  <a:srgbClr val="FFFFFF"/>
                </a:solidFill>
                <a:latin typeface="Arial"/>
              </a:rPr>
              <a:t>Result summary: all 13 unit tests passed in the earlier unit-testing activity.</a:t>
            </a:r>
          </a:p>
        </p:txBody>
      </p:sp>
      <p:pic>
        <p:nvPicPr>
          <p:cNvPr id="197" name="Google Shape;197;g9504e29505_0_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AUTOMATION SUMMARY</a:t>
            </a: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4">
            <a:alphaModFix/>
          </a:blip>
          <a:srcRect/>
          <a:stretch/>
        </p:blipFill>
        <p:spPr>
          <a:xfrm>
            <a:off x="2127250" y="2199481"/>
            <a:ext cx="7937500" cy="4013200"/>
          </a:xfrm>
          <a:prstGeom prst="rect">
            <a:avLst/>
          </a:prstGeom>
          <a:noFill/>
          <a:ln>
            <a:noFill/>
          </a:ln>
        </p:spPr>
      </p:pic>
      <p:pic>
        <p:nvPicPr>
          <p:cNvPr id="204" name="Google Shape;204;p9" descr="Green Pace logo"/>
          <p:cNvPicPr preferRelativeResize="0"/>
          <p:nvPr/>
        </p:nvPicPr>
        <p:blipFill>
          <a:blip r:embed="rId5">
            <a:alphaModFix/>
          </a:blip>
          <a:stretch>
            <a:fillRect/>
          </a:stretch>
        </p:blipFill>
        <p:spPr>
          <a:xfrm>
            <a:off x="11084074" y="5440526"/>
            <a:ext cx="886601" cy="1149225"/>
          </a:xfrm>
          <a:prstGeom prst="rect">
            <a:avLst/>
          </a:prstGeom>
          <a:noFill/>
          <a:ln>
            <a:noFill/>
          </a:ln>
        </p:spPr>
      </p:pic>
      <p:sp>
        <p:nvSpPr>
          <p:cNvPr id="205" name="TextBox 204"/>
          <p:cNvSpPr txBox="1"/>
          <p:nvPr/>
        </p:nvSpPr>
        <p:spPr>
          <a:xfrm>
            <a:off x="685800" y="1828800"/>
            <a:ext cx="10789920" cy="4343400"/>
          </a:xfrm>
          <a:prstGeom prst="rect">
            <a:avLst/>
          </a:prstGeom>
          <a:noFill/>
        </p:spPr>
        <p:txBody>
          <a:bodyPr wrap="square">
            <a:normAutofit/>
          </a:bodyPr>
          <a:lstStyle/>
          <a:p>
            <a:pPr algn="l"/>
            <a:r>
              <a:rPr sz="1400" b="0">
                <a:solidFill>
                  <a:srgbClr val="FFFFFF"/>
                </a:solidFill>
                <a:latin typeface="Arial"/>
              </a:rPr>
              <a:t>Security checks must be placed throughout the DevSecOps flow.</a:t>
            </a:r>
          </a:p>
          <a:p>
            <a:pPr algn="l"/>
            <a:r>
              <a:rPr sz="1400" b="0">
                <a:solidFill>
                  <a:srgbClr val="FFFFFF"/>
                </a:solidFill>
                <a:latin typeface="Arial"/>
              </a:rPr>
              <a:t/>
            </a:r>
          </a:p>
          <a:p>
            <a:pPr algn="l"/>
            <a:r>
              <a:rPr sz="1400" b="0">
                <a:solidFill>
                  <a:srgbClr val="FFFFFF"/>
                </a:solidFill>
                <a:latin typeface="Arial"/>
              </a:rPr>
              <a:t>Design/Plan: threat modeling and security requirements.</a:t>
            </a:r>
          </a:p>
          <a:p>
            <a:pPr algn="l"/>
            <a:r>
              <a:rPr sz="1400" b="0">
                <a:solidFill>
                  <a:srgbClr val="FFFFFF"/>
                </a:solidFill>
                <a:latin typeface="Arial"/>
              </a:rPr>
              <a:t>Build: compiler warnings, dependency checks, and secure build settings.</a:t>
            </a:r>
          </a:p>
          <a:p>
            <a:pPr algn="l"/>
            <a:r>
              <a:rPr sz="1400" b="0">
                <a:solidFill>
                  <a:srgbClr val="FFFFFF"/>
                </a:solidFill>
                <a:latin typeface="Arial"/>
              </a:rPr>
              <a:t>Verify/Test: unit tests, static analysis, fuzzing, and compliance checks.</a:t>
            </a:r>
          </a:p>
          <a:p>
            <a:pPr algn="l"/>
            <a:r>
              <a:rPr sz="1400" b="0">
                <a:solidFill>
                  <a:srgbClr val="FFFFFF"/>
                </a:solidFill>
                <a:latin typeface="Arial"/>
              </a:rPr>
              <a:t>Transition/Deploy: configuration checks, signing, and penetration testing.</a:t>
            </a:r>
          </a:p>
          <a:p>
            <a:pPr algn="l"/>
            <a:r>
              <a:rPr sz="1400" b="0">
                <a:solidFill>
                  <a:srgbClr val="FFFFFF"/>
                </a:solidFill>
                <a:latin typeface="Arial"/>
              </a:rPr>
              <a:t>Monitor/Detect: logs, alerts, SIEM, and response procedures.</a:t>
            </a:r>
          </a:p>
        </p:txBody>
      </p: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TOOLS</a:t>
            </a: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p:txBody>
      </p:sp>
      <p:pic>
        <p:nvPicPr>
          <p:cNvPr id="211" name="Google Shape;211;p10"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graphicFrame>
        <p:nvGraphicFramePr>
          <p:cNvPr id="212" name="Table 211"/>
          <p:cNvGraphicFramePr>
            <a:graphicFrameLocks noGrp="1"/>
          </p:cNvGraphicFramePr>
          <p:nvPr/>
        </p:nvGraphicFramePr>
        <p:xfrm>
          <a:off x="685800" y="1874519"/>
          <a:ext cx="10607040" cy="3108960"/>
        </p:xfrm>
        <a:graphic>
          <a:graphicData uri="http://schemas.openxmlformats.org/drawingml/2006/table">
            <a:tbl>
              <a:tblPr firstRow="1" bandRow="1">
                <a:tableStyleId>{5C22544A-7EE6-4342-B048-85BDC9FD1C3A}</a:tableStyleId>
              </a:tblPr>
              <a:tblGrid>
                <a:gridCol w="3535680"/>
                <a:gridCol w="3535680"/>
                <a:gridCol w="3535680"/>
              </a:tblGrid>
              <a:tr h="518160">
                <a:tc>
                  <a:txBody>
                    <a:bodyPr/>
                    <a:lstStyle/>
                    <a:p>
                      <a:pPr algn="ctr"/>
                      <a:r>
                        <a:rPr sz="850" b="1">
                          <a:solidFill>
                            <a:srgbClr val="000000"/>
                          </a:solidFill>
                          <a:latin typeface="Arial"/>
                        </a:rPr>
                        <a:t>Pipeline stage</a:t>
                      </a:r>
                    </a:p>
                  </a:txBody>
                  <a:tcPr marL="36576" marR="36576" marT="18288" marB="18288">
                    <a:solidFill>
                      <a:srgbClr val="EBEBEB"/>
                    </a:solidFill>
                  </a:tcPr>
                </a:tc>
                <a:tc>
                  <a:txBody>
                    <a:bodyPr/>
                    <a:lstStyle/>
                    <a:p>
                      <a:pPr algn="ctr"/>
                      <a:r>
                        <a:rPr sz="850" b="1">
                          <a:solidFill>
                            <a:srgbClr val="000000"/>
                          </a:solidFill>
                          <a:latin typeface="Arial"/>
                        </a:rPr>
                        <a:t>Tool / method</a:t>
                      </a:r>
                    </a:p>
                  </a:txBody>
                  <a:tcPr marL="36576" marR="36576" marT="18288" marB="18288">
                    <a:solidFill>
                      <a:srgbClr val="EBEBEB"/>
                    </a:solidFill>
                  </a:tcPr>
                </a:tc>
                <a:tc>
                  <a:txBody>
                    <a:bodyPr/>
                    <a:lstStyle/>
                    <a:p>
                      <a:pPr algn="ctr"/>
                      <a:r>
                        <a:rPr sz="850" b="1">
                          <a:solidFill>
                            <a:srgbClr val="000000"/>
                          </a:solidFill>
                          <a:latin typeface="Arial"/>
                        </a:rPr>
                        <a:t>Purpose</a:t>
                      </a:r>
                    </a:p>
                  </a:txBody>
                  <a:tcPr marL="36576" marR="36576" marT="18288" marB="18288">
                    <a:solidFill>
                      <a:srgbClr val="EBEBEB"/>
                    </a:solidFill>
                  </a:tcPr>
                </a:tc>
              </a:tr>
              <a:tr h="518160">
                <a:tc>
                  <a:txBody>
                    <a:bodyPr/>
                    <a:lstStyle/>
                    <a:p>
                      <a:pPr algn="l"/>
                      <a:r>
                        <a:rPr sz="850" b="0">
                          <a:solidFill>
                            <a:srgbClr val="000000"/>
                          </a:solidFill>
                          <a:latin typeface="Arial"/>
                        </a:rPr>
                        <a:t>IDE/build</a:t>
                      </a:r>
                    </a:p>
                  </a:txBody>
                  <a:tcPr marL="36576" marR="36576" marT="18288" marB="18288">
                    <a:solidFill>
                      <a:srgbClr val="FFFFFF"/>
                    </a:solidFill>
                  </a:tcPr>
                </a:tc>
                <a:tc>
                  <a:txBody>
                    <a:bodyPr/>
                    <a:lstStyle/>
                    <a:p>
                      <a:pPr algn="l"/>
                      <a:r>
                        <a:rPr sz="850" b="0">
                          <a:solidFill>
                            <a:srgbClr val="000000"/>
                          </a:solidFill>
                          <a:latin typeface="Arial"/>
                        </a:rPr>
                        <a:t>Visual Studio, GCC warnings</a:t>
                      </a:r>
                    </a:p>
                  </a:txBody>
                  <a:tcPr marL="36576" marR="36576" marT="18288" marB="18288">
                    <a:solidFill>
                      <a:srgbClr val="FFFFFF"/>
                    </a:solidFill>
                  </a:tcPr>
                </a:tc>
                <a:tc>
                  <a:txBody>
                    <a:bodyPr/>
                    <a:lstStyle/>
                    <a:p>
                      <a:pPr algn="l"/>
                      <a:r>
                        <a:rPr sz="850" b="0">
                          <a:solidFill>
                            <a:srgbClr val="000000"/>
                          </a:solidFill>
                          <a:latin typeface="Arial"/>
                        </a:rPr>
                        <a:t>Find compiler and quality warnings early</a:t>
                      </a:r>
                    </a:p>
                  </a:txBody>
                  <a:tcPr marL="36576" marR="36576" marT="18288" marB="18288">
                    <a:solidFill>
                      <a:srgbClr val="FFFFFF"/>
                    </a:solidFill>
                  </a:tcPr>
                </a:tc>
              </a:tr>
              <a:tr h="518160">
                <a:tc>
                  <a:txBody>
                    <a:bodyPr/>
                    <a:lstStyle/>
                    <a:p>
                      <a:pPr algn="l"/>
                      <a:r>
                        <a:rPr sz="850" b="0">
                          <a:solidFill>
                            <a:srgbClr val="000000"/>
                          </a:solidFill>
                          <a:latin typeface="Arial"/>
                        </a:rPr>
                        <a:t>Static analysis</a:t>
                      </a:r>
                    </a:p>
                  </a:txBody>
                  <a:tcPr marL="36576" marR="36576" marT="18288" marB="18288">
                    <a:solidFill>
                      <a:srgbClr val="FFFFFF"/>
                    </a:solidFill>
                  </a:tcPr>
                </a:tc>
                <a:tc>
                  <a:txBody>
                    <a:bodyPr/>
                    <a:lstStyle/>
                    <a:p>
                      <a:pPr algn="l"/>
                      <a:r>
                        <a:rPr sz="850" b="0">
                          <a:solidFill>
                            <a:srgbClr val="000000"/>
                          </a:solidFill>
                          <a:latin typeface="Arial"/>
                        </a:rPr>
                        <a:t>Cppcheck, Clang-Tidy, CodeQL</a:t>
                      </a:r>
                    </a:p>
                  </a:txBody>
                  <a:tcPr marL="36576" marR="36576" marT="18288" marB="18288">
                    <a:solidFill>
                      <a:srgbClr val="FFFFFF"/>
                    </a:solidFill>
                  </a:tcPr>
                </a:tc>
                <a:tc>
                  <a:txBody>
                    <a:bodyPr/>
                    <a:lstStyle/>
                    <a:p>
                      <a:pPr algn="l"/>
                      <a:r>
                        <a:rPr sz="850" b="0">
                          <a:solidFill>
                            <a:srgbClr val="000000"/>
                          </a:solidFill>
                          <a:latin typeface="Arial"/>
                        </a:rPr>
                        <a:t>Detect memory, input, data, and logic defects</a:t>
                      </a:r>
                    </a:p>
                  </a:txBody>
                  <a:tcPr marL="36576" marR="36576" marT="18288" marB="18288">
                    <a:solidFill>
                      <a:srgbClr val="FFFFFF"/>
                    </a:solidFill>
                  </a:tcPr>
                </a:tc>
              </a:tr>
              <a:tr h="518160">
                <a:tc>
                  <a:txBody>
                    <a:bodyPr/>
                    <a:lstStyle/>
                    <a:p>
                      <a:pPr algn="l"/>
                      <a:r>
                        <a:rPr sz="850" b="0">
                          <a:solidFill>
                            <a:srgbClr val="000000"/>
                          </a:solidFill>
                          <a:latin typeface="Arial"/>
                        </a:rPr>
                        <a:t>Quality testing</a:t>
                      </a:r>
                    </a:p>
                  </a:txBody>
                  <a:tcPr marL="36576" marR="36576" marT="18288" marB="18288">
                    <a:solidFill>
                      <a:srgbClr val="FFFFFF"/>
                    </a:solidFill>
                  </a:tcPr>
                </a:tc>
                <a:tc>
                  <a:txBody>
                    <a:bodyPr/>
                    <a:lstStyle/>
                    <a:p>
                      <a:pPr algn="l"/>
                      <a:r>
                        <a:rPr sz="850" b="0">
                          <a:solidFill>
                            <a:srgbClr val="000000"/>
                          </a:solidFill>
                          <a:latin typeface="Arial"/>
                        </a:rPr>
                        <a:t>Google Test</a:t>
                      </a:r>
                    </a:p>
                  </a:txBody>
                  <a:tcPr marL="36576" marR="36576" marT="18288" marB="18288">
                    <a:solidFill>
                      <a:srgbClr val="FFFFFF"/>
                    </a:solidFill>
                  </a:tcPr>
                </a:tc>
                <a:tc>
                  <a:txBody>
                    <a:bodyPr/>
                    <a:lstStyle/>
                    <a:p>
                      <a:pPr algn="l"/>
                      <a:r>
                        <a:rPr sz="850" b="0">
                          <a:solidFill>
                            <a:srgbClr val="000000"/>
                          </a:solidFill>
                          <a:latin typeface="Arial"/>
                        </a:rPr>
                        <a:t>Verify positive, negative, and boundary cases</a:t>
                      </a:r>
                    </a:p>
                  </a:txBody>
                  <a:tcPr marL="36576" marR="36576" marT="18288" marB="18288">
                    <a:solidFill>
                      <a:srgbClr val="FFFFFF"/>
                    </a:solidFill>
                  </a:tcPr>
                </a:tc>
              </a:tr>
              <a:tr h="518160">
                <a:tc>
                  <a:txBody>
                    <a:bodyPr/>
                    <a:lstStyle/>
                    <a:p>
                      <a:pPr algn="l"/>
                      <a:r>
                        <a:rPr sz="850" b="0">
                          <a:solidFill>
                            <a:srgbClr val="000000"/>
                          </a:solidFill>
                          <a:latin typeface="Arial"/>
                        </a:rPr>
                        <a:t>Policy compliance</a:t>
                      </a:r>
                    </a:p>
                  </a:txBody>
                  <a:tcPr marL="36576" marR="36576" marT="18288" marB="18288">
                    <a:solidFill>
                      <a:srgbClr val="FFFFFF"/>
                    </a:solidFill>
                  </a:tcPr>
                </a:tc>
                <a:tc>
                  <a:txBody>
                    <a:bodyPr/>
                    <a:lstStyle/>
                    <a:p>
                      <a:pPr algn="l"/>
                      <a:r>
                        <a:rPr sz="850" b="0">
                          <a:solidFill>
                            <a:srgbClr val="000000"/>
                          </a:solidFill>
                          <a:latin typeface="Arial"/>
                        </a:rPr>
                        <a:t>Sonar rules / SEI CERT mapping</a:t>
                      </a:r>
                    </a:p>
                  </a:txBody>
                  <a:tcPr marL="36576" marR="36576" marT="18288" marB="18288">
                    <a:solidFill>
                      <a:srgbClr val="FFFFFF"/>
                    </a:solidFill>
                  </a:tcPr>
                </a:tc>
                <a:tc>
                  <a:txBody>
                    <a:bodyPr/>
                    <a:lstStyle/>
                    <a:p>
                      <a:pPr algn="l"/>
                      <a:r>
                        <a:rPr sz="850" b="0">
                          <a:solidFill>
                            <a:srgbClr val="000000"/>
                          </a:solidFill>
                          <a:latin typeface="Arial"/>
                        </a:rPr>
                        <a:t>Connect findings to required standards</a:t>
                      </a:r>
                    </a:p>
                  </a:txBody>
                  <a:tcPr marL="36576" marR="36576" marT="18288" marB="18288">
                    <a:solidFill>
                      <a:srgbClr val="FFFFFF"/>
                    </a:solidFill>
                  </a:tcPr>
                </a:tc>
              </a:tr>
              <a:tr h="518160">
                <a:tc>
                  <a:txBody>
                    <a:bodyPr/>
                    <a:lstStyle/>
                    <a:p>
                      <a:pPr algn="l"/>
                      <a:r>
                        <a:rPr sz="850" b="0">
                          <a:solidFill>
                            <a:srgbClr val="000000"/>
                          </a:solidFill>
                          <a:latin typeface="Arial"/>
                        </a:rPr>
                        <a:t>Runtime / operations</a:t>
                      </a:r>
                    </a:p>
                  </a:txBody>
                  <a:tcPr marL="36576" marR="36576" marT="18288" marB="18288">
                    <a:solidFill>
                      <a:srgbClr val="FFFFFF"/>
                    </a:solidFill>
                  </a:tcPr>
                </a:tc>
                <a:tc>
                  <a:txBody>
                    <a:bodyPr/>
                    <a:lstStyle/>
                    <a:p>
                      <a:pPr algn="l"/>
                      <a:r>
                        <a:rPr sz="850" b="0">
                          <a:solidFill>
                            <a:srgbClr val="000000"/>
                          </a:solidFill>
                          <a:latin typeface="Arial"/>
                        </a:rPr>
                        <a:t>SIEM, logs, monitoring</a:t>
                      </a:r>
                    </a:p>
                  </a:txBody>
                  <a:tcPr marL="36576" marR="36576" marT="18288" marB="18288">
                    <a:solidFill>
                      <a:srgbClr val="FFFFFF"/>
                    </a:solidFill>
                  </a:tcPr>
                </a:tc>
                <a:tc>
                  <a:txBody>
                    <a:bodyPr/>
                    <a:lstStyle/>
                    <a:p>
                      <a:pPr algn="l"/>
                      <a:r>
                        <a:rPr sz="850" b="0">
                          <a:solidFill>
                            <a:srgbClr val="000000"/>
                          </a:solidFill>
                          <a:latin typeface="Arial"/>
                        </a:rPr>
                        <a:t>Detect attacks and preserve audit evidence</a:t>
                      </a:r>
                    </a:p>
                  </a:txBody>
                  <a:tcPr marL="36576" marR="36576" marT="18288" marB="18288">
                    <a:solidFill>
                      <a:srgbClr val="FFFFFF"/>
                    </a:solidFill>
                  </a:tcPr>
                </a:tc>
              </a:tr>
            </a:tbl>
          </a:graphicData>
        </a:graphic>
      </p:graphicFrame>
      <p:sp>
        <p:nvSpPr>
          <p:cNvPr id="213" name="TextBox 212"/>
          <p:cNvSpPr txBox="1"/>
          <p:nvPr/>
        </p:nvSpPr>
        <p:spPr>
          <a:xfrm>
            <a:off x="777240" y="5166360"/>
            <a:ext cx="9875520" cy="822960"/>
          </a:xfrm>
          <a:prstGeom prst="rect">
            <a:avLst/>
          </a:prstGeom>
          <a:noFill/>
        </p:spPr>
        <p:txBody>
          <a:bodyPr wrap="square">
            <a:normAutofit/>
          </a:bodyPr>
          <a:lstStyle/>
          <a:p>
            <a:pPr/>
            <a:r>
              <a:rPr sz="1200">
                <a:solidFill>
                  <a:srgbClr val="FFFFFF"/>
                </a:solidFill>
                <a:latin typeface="Arial"/>
              </a:rPr>
              <a:t>Tools support the policy but do not replace developer judgment.</a:t>
            </a:r>
          </a:p>
          <a:p>
            <a:pPr/>
            <a:r>
              <a:rPr sz="1200">
                <a:solidFill>
                  <a:srgbClr val="FFFFFF"/>
                </a:solidFill>
                <a:latin typeface="Arial"/>
              </a:rPr>
              <a:t>Findings must be reviewed, prioritized, fixed, and documented.</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RISKS AND BENEFITS</a:t>
            </a:r>
          </a:p>
        </p:txBody>
      </p:sp>
      <p:sp>
        <p:nvSpPr>
          <p:cNvPr id="217" name="Google Shape;217;p11"/>
          <p:cNvSpPr txBox="1">
            <a:spLocks noGrp="1"/>
          </p:cNvSpPr>
          <p:nvPr>
            <p:ph type="body" idx="1"/>
          </p:nvPr>
        </p:nvSpPr>
        <p:spPr>
          <a:xfrm>
            <a:off x="685800" y="1828800"/>
            <a:ext cx="10789920" cy="4343400"/>
          </a:xfrm>
          <a:prstGeom prst="rect">
            <a:avLst/>
          </a:prstGeom>
          <a:noFill/>
          <a:ln>
            <a:noFill/>
          </a:ln>
        </p:spPr>
        <p:txBody>
          <a:bodyPr spcFirstLastPara="1" wrap="square" lIns="91425" tIns="45700" rIns="91425" bIns="45700" anchor="t" anchorCtr="0">
            <a:normAutofit/>
          </a:bodyPr>
          <a:lstStyle/>
          <a:p>
            <a:pPr algn="l"/>
            <a:r>
              <a:rPr sz="1500" b="0">
                <a:solidFill>
                  <a:srgbClr val="FFFFFF"/>
                </a:solidFill>
                <a:latin typeface="Arial"/>
              </a:rPr>
              <a:t>Act now: reduces exposure, improves audit readiness, catches issues earlier, and lowers long-term remediation cost.</a:t>
            </a:r>
          </a:p>
          <a:p>
            <a:pPr algn="l"/>
            <a:r>
              <a:rPr sz="1500" b="0">
                <a:solidFill>
                  <a:srgbClr val="FFFFFF"/>
                </a:solidFill>
                <a:latin typeface="Arial"/>
              </a:rPr>
              <a:t/>
            </a:r>
          </a:p>
          <a:p>
            <a:pPr algn="l"/>
            <a:r>
              <a:rPr sz="1500" b="0">
                <a:solidFill>
                  <a:srgbClr val="FFFFFF"/>
                </a:solidFill>
                <a:latin typeface="Arial"/>
              </a:rPr>
              <a:t>If Green Pace waits: vulnerabilities may reach production, fixes become more expensive, and evidence may be missing during an audit or incident.</a:t>
            </a:r>
          </a:p>
          <a:p>
            <a:pPr algn="l"/>
            <a:r>
              <a:rPr sz="1500" b="0">
                <a:solidFill>
                  <a:srgbClr val="FFFFFF"/>
                </a:solidFill>
                <a:latin typeface="Arial"/>
              </a:rPr>
              <a:t/>
            </a:r>
          </a:p>
          <a:p>
            <a:pPr algn="l"/>
            <a:r>
              <a:rPr sz="1500" b="0">
                <a:solidFill>
                  <a:srgbClr val="FFFFFF"/>
                </a:solidFill>
                <a:latin typeface="Arial"/>
              </a:rPr>
              <a:t>Main risk: too many tool findings can create noise.</a:t>
            </a:r>
          </a:p>
          <a:p>
            <a:pPr algn="l"/>
            <a:r>
              <a:rPr sz="1500" b="0">
                <a:solidFill>
                  <a:srgbClr val="FFFFFF"/>
                </a:solidFill>
                <a:latin typeface="Arial"/>
              </a:rPr>
              <a:t/>
            </a:r>
          </a:p>
          <a:p>
            <a:pPr algn="l"/>
            <a:r>
              <a:rPr sz="1500" b="0">
                <a:solidFill>
                  <a:srgbClr val="FFFFFF"/>
                </a:solidFill>
                <a:latin typeface="Arial"/>
              </a:rPr>
              <a:t>Best response: tune tools, prioritize high-impact findings, train developers, and review exceptions.</a:t>
            </a:r>
          </a:p>
        </p:txBody>
      </p:sp>
      <p:pic>
        <p:nvPicPr>
          <p:cNvPr id="218" name="Google Shape;218;p11"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RECOMMENDATIONS</a:t>
            </a:r>
          </a:p>
        </p:txBody>
      </p:sp>
      <p:sp>
        <p:nvSpPr>
          <p:cNvPr id="224" name="Google Shape;224;p12"/>
          <p:cNvSpPr txBox="1">
            <a:spLocks noGrp="1"/>
          </p:cNvSpPr>
          <p:nvPr>
            <p:ph type="body" idx="1"/>
          </p:nvPr>
        </p:nvSpPr>
        <p:spPr>
          <a:xfrm>
            <a:off x="685800" y="1828800"/>
            <a:ext cx="10789920" cy="4343400"/>
          </a:xfrm>
          <a:prstGeom prst="rect">
            <a:avLst/>
          </a:prstGeom>
          <a:noFill/>
          <a:ln>
            <a:noFill/>
          </a:ln>
        </p:spPr>
        <p:txBody>
          <a:bodyPr spcFirstLastPara="1" wrap="square" lIns="91425" tIns="45700" rIns="91425" bIns="45700" anchor="t" anchorCtr="0">
            <a:normAutofit/>
          </a:bodyPr>
          <a:lstStyle/>
          <a:p>
            <a:pPr algn="l"/>
            <a:r>
              <a:rPr sz="1500" b="0">
                <a:solidFill>
                  <a:srgbClr val="FFFFFF"/>
                </a:solidFill>
                <a:latin typeface="Arial"/>
              </a:rPr>
              <a:t>Gaps to address next:</a:t>
            </a:r>
          </a:p>
          <a:p>
            <a:pPr algn="l"/>
            <a:r>
              <a:rPr sz="1500" b="0">
                <a:solidFill>
                  <a:srgbClr val="FFFFFF"/>
                </a:solidFill>
                <a:latin typeface="Arial"/>
              </a:rPr>
              <a:t/>
            </a:r>
          </a:p>
          <a:p>
            <a:pPr algn="l"/>
            <a:r>
              <a:rPr sz="1500" b="0">
                <a:solidFill>
                  <a:srgbClr val="FFFFFF"/>
                </a:solidFill>
                <a:latin typeface="Arial"/>
              </a:rPr>
              <a:t>1. Add stronger evidence collection for policy compliance.</a:t>
            </a:r>
          </a:p>
          <a:p>
            <a:pPr algn="l"/>
            <a:r>
              <a:rPr sz="1500" b="0">
                <a:solidFill>
                  <a:srgbClr val="FFFFFF"/>
                </a:solidFill>
                <a:latin typeface="Arial"/>
              </a:rPr>
              <a:t>2. Require security checks before merge and before release.</a:t>
            </a:r>
          </a:p>
          <a:p>
            <a:pPr algn="l"/>
            <a:r>
              <a:rPr sz="1500" b="0">
                <a:solidFill>
                  <a:srgbClr val="FFFFFF"/>
                </a:solidFill>
                <a:latin typeface="Arial"/>
              </a:rPr>
              <a:t>3. Expand unit tests for SQL injection, numeric boundaries, and exception paths.</a:t>
            </a:r>
          </a:p>
          <a:p>
            <a:pPr algn="l"/>
            <a:r>
              <a:rPr sz="1500" b="0">
                <a:solidFill>
                  <a:srgbClr val="FFFFFF"/>
                </a:solidFill>
                <a:latin typeface="Arial"/>
              </a:rPr>
              <a:t>4. Add periodic access reviews for privileged roles.</a:t>
            </a:r>
          </a:p>
          <a:p>
            <a:pPr algn="l"/>
            <a:r>
              <a:rPr sz="1500" b="0">
                <a:solidFill>
                  <a:srgbClr val="FFFFFF"/>
                </a:solidFill>
                <a:latin typeface="Arial"/>
              </a:rPr>
              <a:t>5. Create a dashboard for unresolved high-risk findings and exception approvals.</a:t>
            </a:r>
          </a:p>
        </p:txBody>
      </p:sp>
      <p:pic>
        <p:nvPicPr>
          <p:cNvPr id="225" name="Google Shape;225;p12"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CONCLUSIONS</a:t>
            </a:r>
          </a:p>
        </p:txBody>
      </p:sp>
      <p:sp>
        <p:nvSpPr>
          <p:cNvPr id="231" name="Google Shape;231;p13"/>
          <p:cNvSpPr txBox="1">
            <a:spLocks noGrp="1"/>
          </p:cNvSpPr>
          <p:nvPr>
            <p:ph type="body" idx="1"/>
          </p:nvPr>
        </p:nvSpPr>
        <p:spPr>
          <a:xfrm>
            <a:off x="685800" y="1828800"/>
            <a:ext cx="10789920" cy="4343400"/>
          </a:xfrm>
          <a:prstGeom prst="rect">
            <a:avLst/>
          </a:prstGeom>
          <a:noFill/>
          <a:ln>
            <a:noFill/>
          </a:ln>
        </p:spPr>
        <p:txBody>
          <a:bodyPr spcFirstLastPara="1" wrap="square" lIns="91425" tIns="45700" rIns="91425" bIns="45700" anchor="t" anchorCtr="0">
            <a:normAutofit/>
          </a:bodyPr>
          <a:lstStyle/>
          <a:p>
            <a:pPr algn="l"/>
            <a:r>
              <a:rPr sz="1500" b="0">
                <a:solidFill>
                  <a:srgbClr val="FFFFFF"/>
                </a:solidFill>
                <a:latin typeface="Arial"/>
              </a:rPr>
              <a:t>Standards Green Pace should continue adopting:</a:t>
            </a:r>
          </a:p>
          <a:p>
            <a:pPr algn="l"/>
            <a:r>
              <a:rPr sz="1500" b="0">
                <a:solidFill>
                  <a:srgbClr val="FFFFFF"/>
                </a:solidFill>
                <a:latin typeface="Arial"/>
              </a:rPr>
              <a:t/>
            </a:r>
          </a:p>
          <a:p>
            <a:pPr algn="l"/>
            <a:r>
              <a:rPr sz="1500" b="0">
                <a:solidFill>
                  <a:srgbClr val="FFFFFF"/>
                </a:solidFill>
                <a:latin typeface="Arial"/>
              </a:rPr>
              <a:t>• SEI CERT C++ Coding Standard for secure C/C++ development.</a:t>
            </a:r>
          </a:p>
          <a:p>
            <a:pPr algn="l"/>
            <a:r>
              <a:rPr sz="1500" b="0">
                <a:solidFill>
                  <a:srgbClr val="FFFFFF"/>
                </a:solidFill>
                <a:latin typeface="Arial"/>
              </a:rPr>
              <a:t>• NIST SSDF practices for secure software development life cycle.</a:t>
            </a:r>
          </a:p>
          <a:p>
            <a:pPr algn="l"/>
            <a:r>
              <a:rPr sz="1500" b="0">
                <a:solidFill>
                  <a:srgbClr val="FFFFFF"/>
                </a:solidFill>
                <a:latin typeface="Arial"/>
              </a:rPr>
              <a:t>• OWASP guidance for common application risks.</a:t>
            </a:r>
          </a:p>
          <a:p>
            <a:pPr algn="l"/>
            <a:r>
              <a:rPr sz="1500" b="0">
                <a:solidFill>
                  <a:srgbClr val="FFFFFF"/>
                </a:solidFill>
                <a:latin typeface="Arial"/>
              </a:rPr>
              <a:t>• Required unit testing and static analysis before release.</a:t>
            </a:r>
          </a:p>
          <a:p>
            <a:pPr algn="l"/>
            <a:r>
              <a:rPr sz="1500" b="0">
                <a:solidFill>
                  <a:srgbClr val="FFFFFF"/>
                </a:solidFill>
                <a:latin typeface="Arial"/>
              </a:rPr>
              <a:t>• Encryption and Triple-A controls for data protection and accountability.</a:t>
            </a:r>
          </a:p>
          <a:p>
            <a:pPr algn="l"/>
            <a:r>
              <a:rPr sz="1500" b="0">
                <a:solidFill>
                  <a:srgbClr val="FFFFFF"/>
                </a:solidFill>
                <a:latin typeface="Arial"/>
              </a:rPr>
              <a:t/>
            </a:r>
          </a:p>
          <a:p>
            <a:pPr algn="l"/>
            <a:r>
              <a:rPr sz="1500" b="0">
                <a:solidFill>
                  <a:srgbClr val="FFFFFF"/>
                </a:solidFill>
                <a:latin typeface="Arial"/>
              </a:rPr>
              <a:t>Security should remain part of daily development, not a final step.</a:t>
            </a:r>
          </a:p>
        </p:txBody>
      </p:sp>
      <p:pic>
        <p:nvPicPr>
          <p:cNvPr id="232" name="Google Shape;232;p13"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algn="l"/>
            <a:r>
              <a:rPr sz="2800" b="1">
                <a:solidFill>
                  <a:srgbClr val="5E8849"/>
                </a:solidFill>
                <a:latin typeface="Arial"/>
              </a:rPr>
              <a:t>REFERENCES</a:t>
            </a:r>
          </a:p>
        </p:txBody>
      </p:sp>
      <p:sp>
        <p:nvSpPr>
          <p:cNvPr id="238" name="Google Shape;238;p14"/>
          <p:cNvSpPr txBox="1">
            <a:spLocks noGrp="1"/>
          </p:cNvSpPr>
          <p:nvPr>
            <p:ph type="body" idx="1"/>
          </p:nvPr>
        </p:nvSpPr>
        <p:spPr>
          <a:xfrm>
            <a:off x="685800" y="1828800"/>
            <a:ext cx="10789920" cy="4343400"/>
          </a:xfrm>
          <a:prstGeom prst="rect">
            <a:avLst/>
          </a:prstGeom>
          <a:noFill/>
          <a:ln>
            <a:noFill/>
          </a:ln>
        </p:spPr>
        <p:txBody>
          <a:bodyPr spcFirstLastPara="1" wrap="square" lIns="91425" tIns="45700" rIns="91425" bIns="45700" anchor="t" anchorCtr="0">
            <a:normAutofit/>
          </a:bodyPr>
          <a:lstStyle/>
          <a:p>
            <a:pPr algn="l"/>
            <a:r>
              <a:rPr sz="1150" b="0">
                <a:solidFill>
                  <a:srgbClr val="FFFFFF"/>
                </a:solidFill>
                <a:latin typeface="Arial"/>
              </a:rPr>
              <a:t>Carnegie Mellon University, Software Engineering Institute. (n.d.). SEI CERT C++ Coding Standard.</a:t>
            </a:r>
          </a:p>
          <a:p>
            <a:pPr algn="l"/>
            <a:r>
              <a:rPr sz="1150" b="0">
                <a:solidFill>
                  <a:srgbClr val="FFFFFF"/>
                </a:solidFill>
                <a:latin typeface="Arial"/>
              </a:rPr>
              <a:t>NIST. (2022). Secure Software Development Framework (SSDF), SP 800-218.</a:t>
            </a:r>
          </a:p>
          <a:p>
            <a:pPr algn="l"/>
            <a:r>
              <a:rPr sz="1150" b="0">
                <a:solidFill>
                  <a:srgbClr val="FFFFFF"/>
                </a:solidFill>
                <a:latin typeface="Arial"/>
              </a:rPr>
              <a:t>OWASP Foundation. (n.d.). OWASP Top Ten.</a:t>
            </a:r>
          </a:p>
          <a:p>
            <a:pPr algn="l"/>
            <a:r>
              <a:rPr sz="1150" b="0">
                <a:solidFill>
                  <a:srgbClr val="FFFFFF"/>
                </a:solidFill>
                <a:latin typeface="Arial"/>
              </a:rPr>
              <a:t>Cppcheck. (n.d.). Cppcheck static C/C++ code analysis.</a:t>
            </a:r>
          </a:p>
          <a:p>
            <a:pPr algn="l"/>
            <a:r>
              <a:rPr sz="1150" b="0">
                <a:solidFill>
                  <a:srgbClr val="FFFFFF"/>
                </a:solidFill>
                <a:latin typeface="Arial"/>
              </a:rPr>
              <a:t>Microsoft. (n.d.). Code analysis for C/C++ overview.</a:t>
            </a:r>
          </a:p>
          <a:p>
            <a:pPr algn="l"/>
            <a:r>
              <a:rPr sz="1150" b="0">
                <a:solidFill>
                  <a:srgbClr val="FFFFFF"/>
                </a:solidFill>
                <a:latin typeface="Arial"/>
              </a:rPr>
              <a:t>Google. (n.d.). GoogleTest documentation.</a:t>
            </a:r>
          </a:p>
          <a:p>
            <a:pPr algn="l"/>
            <a:r>
              <a:rPr sz="1150" b="0">
                <a:solidFill>
                  <a:srgbClr val="FFFFFF"/>
                </a:solidFill>
                <a:latin typeface="Arial"/>
              </a:rPr>
              <a:t>SonarSource. (n.d.). Sonar rules catalog.</a:t>
            </a:r>
          </a:p>
        </p:txBody>
      </p:sp>
      <p:pic>
        <p:nvPicPr>
          <p:cNvPr id="239" name="Google Shape;239;p14" descr="Green Pace logo"/>
          <p:cNvPicPr preferRelativeResize="0"/>
          <p:nvPr/>
        </p:nvPicPr>
        <p:blipFill>
          <a:blip r:embed="rId4">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082528" y="5440680"/>
            <a:ext cx="886968" cy="1152144"/>
          </a:xfrm>
          <a:prstGeom prst="rect">
            <a:avLst/>
          </a:prstGeom>
        </p:spPr>
      </p:pic>
      <p:sp>
        <p:nvSpPr>
          <p:cNvPr id="3" name="TextBox 2"/>
          <p:cNvSpPr txBox="1"/>
          <p:nvPr/>
        </p:nvSpPr>
        <p:spPr>
          <a:xfrm>
            <a:off x="685800" y="594360"/>
            <a:ext cx="10607040" cy="731520"/>
          </a:xfrm>
          <a:prstGeom prst="rect">
            <a:avLst/>
          </a:prstGeom>
          <a:noFill/>
        </p:spPr>
        <p:txBody>
          <a:bodyPr wrap="square">
            <a:normAutofit/>
          </a:bodyPr>
          <a:lstStyle/>
          <a:p>
            <a:pPr algn="l"/>
            <a:r>
              <a:rPr sz="2800" b="1">
                <a:solidFill>
                  <a:srgbClr val="5E8849"/>
                </a:solidFill>
                <a:latin typeface="Arial"/>
              </a:rPr>
              <a:t>TEST 3: DOES ERASE AVOID ITERATOR MISUSE?</a:t>
            </a:r>
          </a:p>
        </p:txBody>
      </p:sp>
      <p:sp>
        <p:nvSpPr>
          <p:cNvPr id="4" name="TextBox 3"/>
          <p:cNvSpPr txBox="1"/>
          <p:nvPr/>
        </p:nvSpPr>
        <p:spPr>
          <a:xfrm>
            <a:off x="685800" y="1828800"/>
            <a:ext cx="10789920" cy="4343400"/>
          </a:xfrm>
          <a:prstGeom prst="rect">
            <a:avLst/>
          </a:prstGeom>
          <a:noFill/>
        </p:spPr>
        <p:txBody>
          <a:bodyPr wrap="square">
            <a:normAutofit/>
          </a:bodyPr>
          <a:lstStyle/>
          <a:p>
            <a:pPr algn="l"/>
            <a:r>
              <a:rPr sz="1500" b="0">
                <a:solidFill>
                  <a:srgbClr val="FFFFFF"/>
                </a:solidFill>
                <a:latin typeface="Arial"/>
              </a:rPr>
              <a:t>Test type: Negative/boundary test</a:t>
            </a:r>
          </a:p>
          <a:p>
            <a:pPr algn="l"/>
            <a:r>
              <a:rPr sz="1500" b="0">
                <a:solidFill>
                  <a:srgbClr val="FFFFFF"/>
                </a:solidFill>
                <a:latin typeface="Arial"/>
              </a:rPr>
              <a:t>Input: erase an element while iterating</a:t>
            </a:r>
          </a:p>
          <a:p>
            <a:pPr algn="l"/>
            <a:r>
              <a:rPr sz="1500" b="0">
                <a:solidFill>
                  <a:srgbClr val="FFFFFF"/>
                </a:solidFill>
                <a:latin typeface="Arial"/>
              </a:rPr>
              <a:t>Expected result: iterator is updated safely</a:t>
            </a:r>
          </a:p>
          <a:p>
            <a:pPr algn="l"/>
            <a:r>
              <a:rPr sz="1500" b="0">
                <a:solidFill>
                  <a:srgbClr val="FFFFFF"/>
                </a:solidFill>
                <a:latin typeface="Arial"/>
              </a:rPr>
              <a:t>Actual result: PASS</a:t>
            </a:r>
          </a:p>
          <a:p>
            <a:pPr algn="l"/>
            <a:r>
              <a:rPr sz="1500" b="0">
                <a:solidFill>
                  <a:srgbClr val="FFFFFF"/>
                </a:solidFill>
                <a:latin typeface="Arial"/>
              </a:rPr>
              <a:t>Security meaning: prevents invalid iterator use after erase.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082528" y="5440680"/>
            <a:ext cx="886968" cy="1152144"/>
          </a:xfrm>
          <a:prstGeom prst="rect">
            <a:avLst/>
          </a:prstGeom>
        </p:spPr>
      </p:pic>
      <p:sp>
        <p:nvSpPr>
          <p:cNvPr id="3" name="TextBox 2"/>
          <p:cNvSpPr txBox="1"/>
          <p:nvPr/>
        </p:nvSpPr>
        <p:spPr>
          <a:xfrm>
            <a:off x="685800" y="594360"/>
            <a:ext cx="10607040" cy="731520"/>
          </a:xfrm>
          <a:prstGeom prst="rect">
            <a:avLst/>
          </a:prstGeom>
          <a:noFill/>
        </p:spPr>
        <p:txBody>
          <a:bodyPr wrap="square">
            <a:normAutofit/>
          </a:bodyPr>
          <a:lstStyle/>
          <a:p>
            <a:pPr algn="l"/>
            <a:r>
              <a:rPr sz="2800" b="1">
                <a:solidFill>
                  <a:srgbClr val="5E8849"/>
                </a:solidFill>
                <a:latin typeface="Arial"/>
              </a:rPr>
              <a:t>TEST 2: DOES OUT-OF-RANGE ACCESS FAIL SAFELY?</a:t>
            </a:r>
          </a:p>
        </p:txBody>
      </p:sp>
      <p:sp>
        <p:nvSpPr>
          <p:cNvPr id="4" name="TextBox 3"/>
          <p:cNvSpPr txBox="1"/>
          <p:nvPr/>
        </p:nvSpPr>
        <p:spPr>
          <a:xfrm>
            <a:off x="685800" y="1828800"/>
            <a:ext cx="10789920" cy="4343400"/>
          </a:xfrm>
          <a:prstGeom prst="rect">
            <a:avLst/>
          </a:prstGeom>
          <a:noFill/>
        </p:spPr>
        <p:txBody>
          <a:bodyPr wrap="square">
            <a:normAutofit/>
          </a:bodyPr>
          <a:lstStyle/>
          <a:p>
            <a:pPr algn="l"/>
            <a:r>
              <a:rPr sz="1500" b="0">
                <a:solidFill>
                  <a:srgbClr val="FFFFFF"/>
                </a:solidFill>
                <a:latin typeface="Arial"/>
              </a:rPr>
              <a:t>Test type: Negative test</a:t>
            </a:r>
          </a:p>
          <a:p>
            <a:pPr algn="l"/>
            <a:r>
              <a:rPr sz="1500" b="0">
                <a:solidFill>
                  <a:srgbClr val="FFFFFF"/>
                </a:solidFill>
                <a:latin typeface="Arial"/>
              </a:rPr>
              <a:t>Input: request an index outside the vector range</a:t>
            </a:r>
          </a:p>
          <a:p>
            <a:pPr algn="l"/>
            <a:r>
              <a:rPr sz="1500" b="0">
                <a:solidFill>
                  <a:srgbClr val="FFFFFF"/>
                </a:solidFill>
                <a:latin typeface="Arial"/>
              </a:rPr>
              <a:t>Expected result: exception or controlled failure</a:t>
            </a:r>
          </a:p>
          <a:p>
            <a:pPr algn="l"/>
            <a:r>
              <a:rPr sz="1500" b="0">
                <a:solidFill>
                  <a:srgbClr val="FFFFFF"/>
                </a:solidFill>
                <a:latin typeface="Arial"/>
              </a:rPr>
              <a:t>Actual result: PASS</a:t>
            </a:r>
          </a:p>
          <a:p>
            <a:pPr algn="l"/>
            <a:r>
              <a:rPr sz="1500" b="0">
                <a:solidFill>
                  <a:srgbClr val="FFFFFF"/>
                </a:solidFill>
                <a:latin typeface="Arial"/>
              </a:rPr>
              <a:t>Security meaning: prevents undefined behavior and memory exposure.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11082528" y="5440680"/>
            <a:ext cx="886968" cy="1152144"/>
          </a:xfrm>
          <a:prstGeom prst="rect">
            <a:avLst/>
          </a:prstGeom>
        </p:spPr>
      </p:pic>
      <p:sp>
        <p:nvSpPr>
          <p:cNvPr id="3" name="TextBox 2"/>
          <p:cNvSpPr txBox="1"/>
          <p:nvPr/>
        </p:nvSpPr>
        <p:spPr>
          <a:xfrm>
            <a:off x="685800" y="594360"/>
            <a:ext cx="10607040" cy="731520"/>
          </a:xfrm>
          <a:prstGeom prst="rect">
            <a:avLst/>
          </a:prstGeom>
          <a:noFill/>
        </p:spPr>
        <p:txBody>
          <a:bodyPr wrap="square">
            <a:normAutofit/>
          </a:bodyPr>
          <a:lstStyle/>
          <a:p>
            <a:pPr algn="l"/>
            <a:r>
              <a:rPr sz="2800" b="1">
                <a:solidFill>
                  <a:srgbClr val="5E8849"/>
                </a:solidFill>
                <a:latin typeface="Arial"/>
              </a:rPr>
              <a:t>TEST 1: DOES VALID VECTOR INSERTION WORK?</a:t>
            </a:r>
          </a:p>
        </p:txBody>
      </p:sp>
      <p:sp>
        <p:nvSpPr>
          <p:cNvPr id="4" name="TextBox 3"/>
          <p:cNvSpPr txBox="1"/>
          <p:nvPr/>
        </p:nvSpPr>
        <p:spPr>
          <a:xfrm>
            <a:off x="685800" y="1828800"/>
            <a:ext cx="10789920" cy="4343400"/>
          </a:xfrm>
          <a:prstGeom prst="rect">
            <a:avLst/>
          </a:prstGeom>
          <a:noFill/>
        </p:spPr>
        <p:txBody>
          <a:bodyPr wrap="square">
            <a:normAutofit/>
          </a:bodyPr>
          <a:lstStyle/>
          <a:p>
            <a:pPr algn="l"/>
            <a:r>
              <a:rPr sz="1500" b="0">
                <a:solidFill>
                  <a:srgbClr val="FFFFFF"/>
                </a:solidFill>
                <a:latin typeface="Arial"/>
              </a:rPr>
              <a:t>Test type: Positive test</a:t>
            </a:r>
          </a:p>
          <a:p>
            <a:pPr algn="l"/>
            <a:r>
              <a:rPr sz="1500" b="0">
                <a:solidFill>
                  <a:srgbClr val="FFFFFF"/>
                </a:solidFill>
                <a:latin typeface="Arial"/>
              </a:rPr>
              <a:t>Input: add valid values to the vector</a:t>
            </a:r>
          </a:p>
          <a:p>
            <a:pPr algn="l"/>
            <a:r>
              <a:rPr sz="1500" b="0">
                <a:solidFill>
                  <a:srgbClr val="FFFFFF"/>
                </a:solidFill>
                <a:latin typeface="Arial"/>
              </a:rPr>
              <a:t>Expected result: vector stores values in the correct order</a:t>
            </a:r>
          </a:p>
          <a:p>
            <a:pPr algn="l"/>
            <a:r>
              <a:rPr sz="1500" b="0">
                <a:solidFill>
                  <a:srgbClr val="FFFFFF"/>
                </a:solidFill>
                <a:latin typeface="Arial"/>
              </a:rPr>
              <a:t>Actual result: PASS</a:t>
            </a:r>
          </a:p>
          <a:p>
            <a:pPr algn="l"/>
            <a:r>
              <a:rPr sz="1500" b="0">
                <a:solidFill>
                  <a:srgbClr val="FFFFFF"/>
                </a:solidFill>
                <a:latin typeface="Arial"/>
              </a:rPr>
              <a:t>Security meaning: confirms the safe path works before testing failure paths.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F398236C-7FA9-40C9-B456-AA158A506A32}">
  <ds:schemaRefs>
    <ds:schemaRef ds:uri="http://schemas.microsoft.com/sharepoint/v3/contenttype/forms"/>
  </ds:schemaRefs>
</ds:datastoreItem>
</file>

<file path=customXml/itemProps3.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docProps/app.xml><?xml version="1.0" encoding="utf-8"?>
<Properties xmlns="http://schemas.openxmlformats.org/officeDocument/2006/extended-properties" xmlns:vt="http://schemas.openxmlformats.org/officeDocument/2006/docPropsVTypes">
  <TotalTime>7</TotalTime>
  <Words>352</Words>
  <Application>Microsoft Office PowerPoint</Application>
  <PresentationFormat>Widescreen</PresentationFormat>
  <Paragraphs>39</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Ankita Koli</cp:lastModifiedBy>
  <cp:revision>4</cp:revision>
  <dcterms:created xsi:type="dcterms:W3CDTF">2020-08-19T17:59:24Z</dcterms:created>
  <dcterms:modified xsi:type="dcterms:W3CDTF">2021-06-29T10:11:44Z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